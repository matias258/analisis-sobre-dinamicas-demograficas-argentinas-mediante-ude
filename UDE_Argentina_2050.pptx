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9" r:id="rId11"/>
    <p:sldId id="270" r:id="rId12"/>
    <p:sldId id="271" r:id="rId13"/>
    <p:sldId id="266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D0C360-C476-F8CA-13D0-1EE525859F86}" v="37" dt="2026-07-08T19:38:11.6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79664" autoAdjust="0"/>
  </p:normalViewPr>
  <p:slideViewPr>
    <p:cSldViewPr snapToGrid="0" snapToObjects="1">
      <p:cViewPr varScale="1">
        <p:scale>
          <a:sx n="115" d="100"/>
          <a:sy n="115" d="100"/>
        </p:scale>
        <p:origin x="28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s-AR" sz="1100" b="0" i="0" u="none" strike="noStrike" noProof="0" dirty="0">
                <a:solidFill>
                  <a:srgbClr val="64748B"/>
                </a:solidFill>
                <a:latin typeface="Arial"/>
              </a:rPr>
              <a:t>‰ por 1.000 hab.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TBN — Natalidad</c:v>
                </c:pt>
              </c:strCache>
            </c:strRef>
          </c:tx>
          <c:spPr>
            <a:ln w="31750" cap="flat">
              <a:solidFill>
                <a:srgbClr val="4472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472C4"/>
              </a:solidFill>
              <a:ln w="9525" cap="flat">
                <a:solidFill>
                  <a:srgbClr val="4472C4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18</c:v>
                </c:pt>
                <c:pt idx="1">
                  <c:v>17.899999999999999</c:v>
                </c:pt>
                <c:pt idx="2">
                  <c:v>18.2</c:v>
                </c:pt>
                <c:pt idx="3">
                  <c:v>17.399999999999999</c:v>
                </c:pt>
                <c:pt idx="4">
                  <c:v>16.399999999999999</c:v>
                </c:pt>
                <c:pt idx="5">
                  <c:v>15.8</c:v>
                </c:pt>
                <c:pt idx="6">
                  <c:v>15.3</c:v>
                </c:pt>
                <c:pt idx="7">
                  <c:v>13.7</c:v>
                </c:pt>
                <c:pt idx="8">
                  <c:v>12</c:v>
                </c:pt>
                <c:pt idx="9">
                  <c:v>11</c:v>
                </c:pt>
                <c:pt idx="10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3E-4135-91A8-069A761E7D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TBM — Mortalidad</c:v>
                </c:pt>
              </c:strCache>
            </c:strRef>
          </c:tx>
          <c:spPr>
            <a:ln w="3175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7.7</c:v>
                </c:pt>
                <c:pt idx="1">
                  <c:v>7.7</c:v>
                </c:pt>
                <c:pt idx="2">
                  <c:v>7.6</c:v>
                </c:pt>
                <c:pt idx="3">
                  <c:v>7.7</c:v>
                </c:pt>
                <c:pt idx="4">
                  <c:v>8.1</c:v>
                </c:pt>
                <c:pt idx="5">
                  <c:v>7.7</c:v>
                </c:pt>
                <c:pt idx="6">
                  <c:v>7.6</c:v>
                </c:pt>
                <c:pt idx="7">
                  <c:v>7.6</c:v>
                </c:pt>
                <c:pt idx="8">
                  <c:v>8.3000000000000007</c:v>
                </c:pt>
                <c:pt idx="9">
                  <c:v>9.5</c:v>
                </c:pt>
                <c:pt idx="10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3E-4135-91A8-069A761E7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s-AR" sz="1100" b="0" i="0" u="none" strike="noStrike" noProof="0" dirty="0">
                <a:solidFill>
                  <a:srgbClr val="64748B"/>
                </a:solidFill>
                <a:latin typeface="Arial"/>
              </a:rPr>
              <a:t>miles de personas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Crecimiento Vegetativo (miles)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430</c:v>
                </c:pt>
                <c:pt idx="1">
                  <c:v>428</c:v>
                </c:pt>
                <c:pt idx="2">
                  <c:v>452</c:v>
                </c:pt>
                <c:pt idx="3">
                  <c:v>420</c:v>
                </c:pt>
                <c:pt idx="4">
                  <c:v>365</c:v>
                </c:pt>
                <c:pt idx="5">
                  <c:v>355</c:v>
                </c:pt>
                <c:pt idx="6">
                  <c:v>348</c:v>
                </c:pt>
                <c:pt idx="7">
                  <c:v>275</c:v>
                </c:pt>
                <c:pt idx="8">
                  <c:v>170</c:v>
                </c:pt>
                <c:pt idx="9">
                  <c:v>68</c:v>
                </c:pt>
                <c:pt idx="10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F7-435F-BCD2-7571F08081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s-AR" sz="1100" b="0" i="0" u="none" strike="noStrike" noProof="0" dirty="0">
                <a:solidFill>
                  <a:srgbClr val="64748B"/>
                </a:solidFill>
                <a:latin typeface="Arial"/>
              </a:rPr>
              <a:t>hijos por mujer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TGF</c:v>
                </c:pt>
              </c:strCache>
            </c:strRef>
          </c:tx>
          <c:spPr>
            <a:ln w="31750" cap="flat">
              <a:solidFill>
                <a:srgbClr val="7B2D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B2D8B"/>
              </a:solidFill>
              <a:ln w="9525" cap="flat">
                <a:solidFill>
                  <a:srgbClr val="7B2D8B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2.58</c:v>
                </c:pt>
                <c:pt idx="1">
                  <c:v>2.57</c:v>
                </c:pt>
                <c:pt idx="2">
                  <c:v>2.61</c:v>
                </c:pt>
                <c:pt idx="3">
                  <c:v>2.4900000000000002</c:v>
                </c:pt>
                <c:pt idx="4">
                  <c:v>2.35</c:v>
                </c:pt>
                <c:pt idx="5">
                  <c:v>2.2599999999999998</c:v>
                </c:pt>
                <c:pt idx="6">
                  <c:v>2.19</c:v>
                </c:pt>
                <c:pt idx="7">
                  <c:v>1.96</c:v>
                </c:pt>
                <c:pt idx="8">
                  <c:v>1.72</c:v>
                </c:pt>
                <c:pt idx="9">
                  <c:v>1.57</c:v>
                </c:pt>
                <c:pt idx="10">
                  <c:v>1.44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A53-4ACF-ACEE-0FE8ECB3A5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Umbral de reemplazo (2,1)</c:v>
                </c:pt>
              </c:strCache>
            </c:strRef>
          </c:tx>
          <c:spPr>
            <a:ln w="31750" cap="flat">
              <a:solidFill>
                <a:srgbClr val="99999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2.1</c:v>
                </c:pt>
                <c:pt idx="1">
                  <c:v>2.1</c:v>
                </c:pt>
                <c:pt idx="2">
                  <c:v>2.1</c:v>
                </c:pt>
                <c:pt idx="3">
                  <c:v>2.1</c:v>
                </c:pt>
                <c:pt idx="4">
                  <c:v>2.1</c:v>
                </c:pt>
                <c:pt idx="5">
                  <c:v>2.1</c:v>
                </c:pt>
                <c:pt idx="6">
                  <c:v>2.1</c:v>
                </c:pt>
                <c:pt idx="7">
                  <c:v>2.1</c:v>
                </c:pt>
                <c:pt idx="8">
                  <c:v>2.1</c:v>
                </c:pt>
                <c:pt idx="9">
                  <c:v>2.1</c:v>
                </c:pt>
                <c:pt idx="10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53-4ACF-ACEE-0FE8ECB3A5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"/>
          <c:min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s-AR" sz="1100" b="0" i="0" u="none" strike="noStrike" noProof="0" dirty="0">
                <a:solidFill>
                  <a:srgbClr val="64748B"/>
                </a:solidFill>
                <a:latin typeface="Arial"/>
              </a:rPr>
              <a:t>‰ por 1.000 hab.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Migración neta</c:v>
                </c:pt>
              </c:strCache>
            </c:strRef>
          </c:tx>
          <c:spPr>
            <a:ln w="31750" cap="flat">
              <a:solidFill>
                <a:srgbClr val="E8A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838"/>
              </a:solidFill>
              <a:ln w="9525" cap="flat">
                <a:solidFill>
                  <a:srgbClr val="E8A838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  <c:pt idx="10">
                  <c:v>2022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7.0000000000000007E-2</c:v>
                </c:pt>
                <c:pt idx="1">
                  <c:v>0.122</c:v>
                </c:pt>
                <c:pt idx="2">
                  <c:v>0.14000000000000001</c:v>
                </c:pt>
                <c:pt idx="3">
                  <c:v>0.13</c:v>
                </c:pt>
                <c:pt idx="4">
                  <c:v>0.121</c:v>
                </c:pt>
                <c:pt idx="5">
                  <c:v>0.11</c:v>
                </c:pt>
                <c:pt idx="6">
                  <c:v>0.13100000000000001</c:v>
                </c:pt>
                <c:pt idx="7">
                  <c:v>0.121</c:v>
                </c:pt>
                <c:pt idx="8">
                  <c:v>1.0999999999999999E-2</c:v>
                </c:pt>
                <c:pt idx="9">
                  <c:v>1.0999999999999999E-2</c:v>
                </c:pt>
                <c:pt idx="10">
                  <c:v>0.122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18C-436E-AA76-40F2D4B3A9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A8C8D8"/>
                </a:solidFill>
                <a:latin typeface="Arial"/>
              </a:defRPr>
            </a:pPr>
            <a:r>
              <a:rPr lang="es-AR" sz="1100" b="0" i="0" u="none" strike="noStrike" noProof="0" dirty="0">
                <a:solidFill>
                  <a:srgbClr val="A8C8D8"/>
                </a:solidFill>
                <a:latin typeface="Arial"/>
              </a:rPr>
              <a:t>Millones de habitantes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Optimista</c:v>
                </c:pt>
              </c:strCache>
            </c:strRef>
          </c:tx>
          <c:spPr>
            <a:ln w="31750" cap="flat">
              <a:solidFill>
                <a:srgbClr val="2AA8B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AA8BF"/>
              </a:solidFill>
              <a:ln w="9525" cap="flat">
                <a:solidFill>
                  <a:srgbClr val="2AA8B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2025</c:v>
                </c:pt>
                <c:pt idx="2">
                  <c:v>2030</c:v>
                </c:pt>
                <c:pt idx="3">
                  <c:v>2035</c:v>
                </c:pt>
                <c:pt idx="4">
                  <c:v>2040</c:v>
                </c:pt>
                <c:pt idx="5">
                  <c:v>2045</c:v>
                </c:pt>
                <c:pt idx="6">
                  <c:v>2050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46.2</c:v>
                </c:pt>
                <c:pt idx="1">
                  <c:v>48</c:v>
                </c:pt>
                <c:pt idx="2">
                  <c:v>50.7</c:v>
                </c:pt>
                <c:pt idx="3">
                  <c:v>53.1</c:v>
                </c:pt>
                <c:pt idx="4">
                  <c:v>55.1</c:v>
                </c:pt>
                <c:pt idx="5">
                  <c:v>56.1</c:v>
                </c:pt>
                <c:pt idx="6">
                  <c:v>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06-4D59-8419-03491E9B07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31750" cap="flat">
              <a:solidFill>
                <a:srgbClr val="FFFFF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2025</c:v>
                </c:pt>
                <c:pt idx="2">
                  <c:v>2030</c:v>
                </c:pt>
                <c:pt idx="3">
                  <c:v>2035</c:v>
                </c:pt>
                <c:pt idx="4">
                  <c:v>2040</c:v>
                </c:pt>
                <c:pt idx="5">
                  <c:v>2045</c:v>
                </c:pt>
                <c:pt idx="6">
                  <c:v>2050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46.2</c:v>
                </c:pt>
                <c:pt idx="1">
                  <c:v>47.7</c:v>
                </c:pt>
                <c:pt idx="2">
                  <c:v>49.6</c:v>
                </c:pt>
                <c:pt idx="3">
                  <c:v>51</c:v>
                </c:pt>
                <c:pt idx="4">
                  <c:v>51.7</c:v>
                </c:pt>
                <c:pt idx="5">
                  <c:v>52</c:v>
                </c:pt>
                <c:pt idx="6">
                  <c:v>52.1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06-4D59-8419-03491E9B07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Pesimista</c:v>
                </c:pt>
              </c:strCache>
            </c:strRef>
          </c:tx>
          <c:spPr>
            <a:ln w="31750" cap="flat">
              <a:solidFill>
                <a:srgbClr val="D95F3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5F3B"/>
              </a:solidFill>
              <a:ln w="9525" cap="flat">
                <a:solidFill>
                  <a:srgbClr val="D95F3B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2022</c:v>
                </c:pt>
                <c:pt idx="1">
                  <c:v>2025</c:v>
                </c:pt>
                <c:pt idx="2">
                  <c:v>2030</c:v>
                </c:pt>
                <c:pt idx="3">
                  <c:v>2035</c:v>
                </c:pt>
                <c:pt idx="4">
                  <c:v>2040</c:v>
                </c:pt>
                <c:pt idx="5">
                  <c:v>2045</c:v>
                </c:pt>
                <c:pt idx="6">
                  <c:v>2050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46.2</c:v>
                </c:pt>
                <c:pt idx="1">
                  <c:v>47.3</c:v>
                </c:pt>
                <c:pt idx="2">
                  <c:v>48.2</c:v>
                </c:pt>
                <c:pt idx="3">
                  <c:v>48.8</c:v>
                </c:pt>
                <c:pt idx="4">
                  <c:v>49.1</c:v>
                </c:pt>
                <c:pt idx="5">
                  <c:v>49.3</c:v>
                </c:pt>
                <c:pt idx="6">
                  <c:v>49.4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A06-4D59-8419-03491E9B07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8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42"/>
        </c:scaling>
        <c:delete val="0"/>
        <c:axPos val="l"/>
        <c:majorGridlines>
          <c:spPr>
            <a:ln w="6350" cap="flat">
              <a:solidFill>
                <a:srgbClr val="2A3F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C8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982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Presentar el contexto brevemente: el debate público sobre baja </a:t>
            </a:r>
            <a:r>
              <a:rPr lang="en-US" dirty="0" err="1"/>
              <a:t>natalidad</a:t>
            </a:r>
            <a:r>
              <a:rPr lang="en-US" dirty="0"/>
              <a:t> es ruidoso pero poco preciso. Este trabajo intenta usar herramientas rigurosas — ecuaciones diferenciales y redes neuronales — para entender hacia dónde va Argentina demográficamente. Duración estimada: ~50 seg.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brevemente cada métrica. Destacar que la TGF es la más reveladora porque mide fecundidad real, no solo </a:t>
            </a:r>
            <a:r>
              <a:rPr lang="en-US" dirty="0" err="1"/>
              <a:t>tasas</a:t>
            </a:r>
            <a:r>
              <a:rPr lang="en-US" dirty="0"/>
              <a:t> </a:t>
            </a:r>
            <a:r>
              <a:rPr lang="en-US" dirty="0" err="1"/>
              <a:t>brutas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la 'tijera': TBN cae a la mitad, TBM casi no cambia (excepto COVID). La brecha es el crecimiento </a:t>
            </a:r>
            <a:r>
              <a:rPr lang="en-US" dirty="0" err="1"/>
              <a:t>vegetativo</a:t>
            </a:r>
            <a:r>
              <a:rPr lang="en-US" dirty="0"/>
              <a:t> y se está cerrando inevitablemente. COVID se ve claramente como spike en TBM </a:t>
            </a:r>
            <a:r>
              <a:rPr lang="en-US" dirty="0" err="1"/>
              <a:t>en</a:t>
            </a:r>
            <a:r>
              <a:rPr lang="en-US" dirty="0"/>
              <a:t>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crecimiento vegetativo es la consecuencia directa de la tijera anterior. 430k→70k en 10 años. El COVID genera un salto adicional en 2020-2021, pero la caída ya </a:t>
            </a:r>
            <a:r>
              <a:rPr lang="en-US" dirty="0" err="1"/>
              <a:t>venía</a:t>
            </a:r>
            <a:r>
              <a:rPr lang="en-US" dirty="0"/>
              <a:t> antes, </a:t>
            </a:r>
            <a:r>
              <a:rPr lang="en-US" dirty="0" err="1"/>
              <a:t>el</a:t>
            </a:r>
            <a:r>
              <a:rPr lang="en-US" dirty="0"/>
              <a:t> COVID solo aceleró lo inevitable.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TGF es el indicador más revelador. La caída de 2.65 en 2014 a 1.45 en 2022 es brutal. Subrayar que llevar 7 años en sub-reemplazo tiene consecuencias de largo plazo que ya son inevitables.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Migración es el tercer parámetro de Malthus pero con peso mínimo. Lo importante: es estable pre-COVID, colapsa por cierre de fronteras y vuelve a normalidad. Se modela como constante μ. El colapso de 2020-21 lo absorbe la red neuronal.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MSE no es arbitrario, se deriva de asumir ruido gaussiano. Cada año </a:t>
            </a:r>
            <a:r>
              <a:rPr lang="en-US" dirty="0" err="1"/>
              <a:t>pesa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, incluyendo COVID. Por eso el modelo tiene que ser robusto. La optimización en dos fases: Adam baja rápido, L-BFGS refina el mínimo.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UDE: tomamos la ecuación de Malthus, que tiene los parámetros demográficos conocidos, y le sumamos una red neuronal que aprende todo lo que los parámetros constantes no pueden explicar. La red tiene 541 pesos, capas 16×16×1.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0857-1658-E873-4DA8-5F9F458C2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74555-C3D7-8640-4C83-5024C18F91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0B2693-5BD4-2E3D-5AE0-F5CE2B514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MSE no es arbitrario, se deriva de asumir ruido gaussiano. Cada año </a:t>
            </a:r>
            <a:r>
              <a:rPr lang="en-US" dirty="0" err="1"/>
              <a:t>pesa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, incluyendo COVID. Por eso el modelo tiene que ser robusto. La optimización en dos fases: Adam baja rápido, L-BFGS refina el mínimo.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51F56-384C-4454-F488-4FC4BCD89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0308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s-AR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lang="es-AR" dirty="0"/>
              <a:t>1er grafico: </a:t>
            </a:r>
          </a:p>
          <a:p>
            <a:r>
              <a:rPr lang="es-A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La red aprendió a capturar la dinámica real.</a:t>
            </a:r>
          </a:p>
          <a:p>
            <a:r>
              <a:rPr lang="es-A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Los pesos aleatorios (rojo punteado) producen una solución absurda, lo que muestra que el entrenamiento fue esencial y funcionó correctamente.</a:t>
            </a:r>
          </a:p>
          <a:p>
            <a:endParaRPr lang="es-AR" dirty="0"/>
          </a:p>
          <a:p>
            <a:r>
              <a:rPr lang="es-AR" dirty="0"/>
              <a:t>2do grafico: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38225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escenarios modifican la tasa de </a:t>
            </a:r>
            <a:r>
              <a:rPr lang="en-US" dirty="0" err="1"/>
              <a:t>migración</a:t>
            </a:r>
            <a:r>
              <a:rPr lang="en-US" dirty="0"/>
              <a:t> y </a:t>
            </a:r>
            <a:r>
              <a:rPr lang="en-US" dirty="0" err="1"/>
              <a:t>natalidad</a:t>
            </a:r>
            <a:r>
              <a:rPr lang="en-US" dirty="0"/>
              <a:t> futura. Ninguno predice una reducción absoluta de población pero la desaceleración es clara. La pregunta ya no es si llegamos al pico sino </a:t>
            </a:r>
            <a:r>
              <a:rPr lang="en-US" dirty="0" err="1"/>
              <a:t>cuándo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Recapitular los 4 puntos. Subrayar la limitación honesta: el análisis es una versión simplificada de un fenómeno complejo. Para predecir con más precisión se </a:t>
            </a:r>
            <a:r>
              <a:rPr lang="en-US" dirty="0" err="1"/>
              <a:t>necesitarían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, datos de educación, políticas de </a:t>
            </a:r>
            <a:r>
              <a:rPr lang="en-US" dirty="0" err="1"/>
              <a:t>natalidad</a:t>
            </a:r>
            <a:r>
              <a:rPr lang="en-US" dirty="0"/>
              <a:t>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1091" y="-274320"/>
            <a:ext cx="3840480" cy="5760720"/>
          </a:xfrm>
          <a:prstGeom prst="roundRect">
            <a:avLst>
              <a:gd name="adj" fmla="val 7143"/>
            </a:avLst>
          </a:prstGeom>
          <a:solidFill>
            <a:srgbClr val="1D7A8C">
              <a:alpha val="25000"/>
            </a:srgbClr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91440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Poblacional Argentina</a:t>
            </a:r>
            <a:endParaRPr lang="es-AR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3600" b="1" noProof="0" dirty="0">
                <a:solidFill>
                  <a:srgbClr val="2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2050</a:t>
            </a:r>
            <a:endParaRPr lang="es-AR" sz="3600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2606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6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con Ecuaciones Diferenciales Universales (UDE)</a:t>
            </a:r>
            <a:endParaRPr lang="es-AR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502920" y="3246120"/>
            <a:ext cx="2743200" cy="27432"/>
          </a:xfrm>
          <a:prstGeom prst="rect">
            <a:avLst/>
          </a:prstGeom>
          <a:solidFill>
            <a:srgbClr val="2AA8BF"/>
          </a:solidFill>
          <a:ln w="12700">
            <a:solidFill>
              <a:srgbClr val="2AA8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Gangui Matías</a:t>
            </a:r>
            <a:endParaRPr lang="es-AR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3822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· Dinámicas poblacionales y escenarios al 2050</a:t>
            </a:r>
            <a:endParaRPr lang="es-A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Motivación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5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global</a:t>
            </a:r>
            <a:endParaRPr lang="es-AR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594360" y="1755648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s-AR" sz="13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países desarrollados no alcanzan la tasa de natalidad necesaria para el reemplazo generacional (2,1 hijos por mujer).</a:t>
            </a:r>
            <a:endParaRPr lang="es-AR" sz="1300" noProof="0" dirty="0"/>
          </a:p>
          <a:p>
            <a:pPr marL="0" indent="0" algn="l">
              <a:buNone/>
            </a:pPr>
            <a:r>
              <a:rPr lang="es-AR" sz="13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AR" sz="1300" noProof="0" dirty="0"/>
          </a:p>
          <a:p>
            <a:pPr marL="0" indent="0" algn="l">
              <a:buNone/>
            </a:pPr>
            <a:r>
              <a:rPr lang="es-AR" sz="13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medios predicen consecuencias económicas y sociales, pero sin precisión sobre tiempos, causas ni magnitudes.</a:t>
            </a:r>
            <a:endParaRPr lang="es-AR" sz="1300" noProof="0" dirty="0"/>
          </a:p>
        </p:txBody>
      </p:sp>
      <p:sp>
        <p:nvSpPr>
          <p:cNvPr id="8" name="Shape 5"/>
          <p:cNvSpPr/>
          <p:nvPr/>
        </p:nvSpPr>
        <p:spPr>
          <a:xfrm>
            <a:off x="4663440" y="96012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1430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928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5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trabajo responde</a:t>
            </a:r>
            <a:endParaRPr lang="es-AR" sz="1500" noProof="0" dirty="0"/>
          </a:p>
        </p:txBody>
      </p:sp>
      <p:sp>
        <p:nvSpPr>
          <p:cNvPr id="11" name="Text 7"/>
          <p:cNvSpPr/>
          <p:nvPr/>
        </p:nvSpPr>
        <p:spPr>
          <a:xfrm>
            <a:off x="4846320" y="1755648"/>
            <a:ext cx="3657600" cy="22860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342900" indent="-342900" algn="l">
              <a:buSzPct val="100000"/>
              <a:buChar char="•"/>
            </a:pPr>
            <a:r>
              <a:rPr lang="es-AR" sz="13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variables son fundamentales para la dinámica poblacional de Argentina?</a:t>
            </a:r>
            <a:endParaRPr lang="es-AR" sz="1300" noProof="0" dirty="0"/>
          </a:p>
          <a:p>
            <a:pPr marL="342900" indent="-342900" algn="l">
              <a:buSzPct val="100000"/>
              <a:buChar char="•"/>
            </a:pPr>
            <a:r>
              <a:rPr lang="es-AR" sz="13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estamos parados hoy?</a:t>
            </a:r>
            <a:endParaRPr lang="es-AR" sz="1300" noProof="0" dirty="0"/>
          </a:p>
          <a:p>
            <a:pPr marL="342900" indent="-342900" algn="l">
              <a:buSzPct val="100000"/>
              <a:buChar char="•"/>
            </a:pPr>
            <a:r>
              <a:rPr lang="es-AR" sz="13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¿Hacia dónde vamos al 2050?</a:t>
            </a:r>
            <a:endParaRPr lang="es-AR" sz="13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Métricas Utilizadas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2111334"/>
              </p:ext>
            </p:extLst>
          </p:nvPr>
        </p:nvGraphicFramePr>
        <p:xfrm>
          <a:off x="365760" y="960120"/>
          <a:ext cx="8412480" cy="3083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>
                          <a:solidFill>
                            <a:srgbClr val="1B2A4A"/>
                          </a:solidFill>
                          <a:latin typeface="Calibri"/>
                          <a:ea typeface="Calibri"/>
                          <a:cs typeface="Calibri"/>
                        </a:rPr>
                        <a:t>TBN — Tasa Bruta de Natalidad (o TGF)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(nacimientos / P) × 1000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Nacidos vivos por cada 1.000 hab.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TBM — Tasa Bruta de Mortalidad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(defunciones / P) × 1000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Defunciones por cada 1.000 hab.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Crecimiento Vegetativo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nacimientos − defunciones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natural absoluto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Crec. Vegetativo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TBN − TBM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natural por 1.000 hab.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kern="12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TBM – Tasa Bruta de Migración</a:t>
                      </a: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(migraciones / P) x 1000</a:t>
                      </a:r>
                      <a:endParaRPr lang="es-AR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AR" sz="1300" kern="1200" noProof="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Migraciones por cada 1.000 hab.</a:t>
                      </a: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18323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3"/>
          <p:cNvSpPr/>
          <p:nvPr/>
        </p:nvSpPr>
        <p:spPr>
          <a:xfrm>
            <a:off x="457200" y="1005840"/>
            <a:ext cx="2468880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s-A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3017520" y="1005840"/>
            <a:ext cx="2468880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s-AR" sz="1300" noProof="0" dirty="0"/>
          </a:p>
        </p:txBody>
      </p:sp>
      <p:sp>
        <p:nvSpPr>
          <p:cNvPr id="8" name="Text 5"/>
          <p:cNvSpPr/>
          <p:nvPr/>
        </p:nvSpPr>
        <p:spPr>
          <a:xfrm>
            <a:off x="5577840" y="1005840"/>
            <a:ext cx="3108960" cy="4389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s-AR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INDEC · RENAPER · CEPALSTAT (2012–2022)</a:t>
            </a:r>
            <a:endParaRPr lang="es-A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Natalidad y Mortalidad — La tijera que se cierra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037864306"/>
              </p:ext>
            </p:extLst>
          </p:nvPr>
        </p:nvGraphicFramePr>
        <p:xfrm>
          <a:off x="365760" y="914400"/>
          <a:ext cx="566928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14400"/>
            <a:ext cx="2560320" cy="393192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3"/>
          <p:cNvSpPr/>
          <p:nvPr/>
        </p:nvSpPr>
        <p:spPr>
          <a:xfrm>
            <a:off x="6355080" y="1051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</a:t>
            </a:r>
            <a:endParaRPr lang="es-A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6355080" y="1600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−44%</a:t>
            </a:r>
            <a:endParaRPr lang="es-AR" sz="2600" noProof="0" dirty="0"/>
          </a:p>
        </p:txBody>
      </p:sp>
      <p:sp>
        <p:nvSpPr>
          <p:cNvPr id="8" name="Text 5"/>
          <p:cNvSpPr/>
          <p:nvPr/>
        </p:nvSpPr>
        <p:spPr>
          <a:xfrm>
            <a:off x="6355080" y="20025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 de TBN</a:t>
            </a:r>
            <a:endParaRPr lang="es-AR" sz="1100" noProof="0" dirty="0"/>
          </a:p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 → 2022</a:t>
            </a:r>
            <a:endParaRPr lang="es-AR" sz="1100" noProof="0" dirty="0"/>
          </a:p>
        </p:txBody>
      </p:sp>
      <p:sp>
        <p:nvSpPr>
          <p:cNvPr id="9" name="Text 6"/>
          <p:cNvSpPr/>
          <p:nvPr/>
        </p:nvSpPr>
        <p:spPr>
          <a:xfrm>
            <a:off x="6355080" y="2651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s-AR" sz="2600" noProof="0" dirty="0"/>
          </a:p>
        </p:txBody>
      </p:sp>
      <p:sp>
        <p:nvSpPr>
          <p:cNvPr id="10" name="Text 7"/>
          <p:cNvSpPr/>
          <p:nvPr/>
        </p:nvSpPr>
        <p:spPr>
          <a:xfrm>
            <a:off x="6355080" y="305409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cruza</a:t>
            </a:r>
            <a:endParaRPr lang="es-AR" sz="1100" noProof="0" dirty="0"/>
          </a:p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sub-reemplazo</a:t>
            </a:r>
            <a:endParaRPr lang="es-AR" sz="1100" noProof="0" dirty="0"/>
          </a:p>
        </p:txBody>
      </p:sp>
      <p:sp>
        <p:nvSpPr>
          <p:cNvPr id="11" name="Text 8"/>
          <p:cNvSpPr/>
          <p:nvPr/>
        </p:nvSpPr>
        <p:spPr>
          <a:xfrm>
            <a:off x="6355080" y="3703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~1,5</a:t>
            </a:r>
            <a:r>
              <a:rPr lang="es-AR" sz="2600" b="1" dirty="0">
                <a:solidFill>
                  <a:srgbClr val="E8A838"/>
                </a:solidFill>
                <a:latin typeface="Calibri"/>
                <a:ea typeface="Calibri"/>
                <a:cs typeface="Calibri"/>
              </a:rPr>
              <a:t>‰</a:t>
            </a:r>
            <a:endParaRPr lang="es-AR" sz="2600" noProof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55080" y="41056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restante</a:t>
            </a:r>
            <a:endParaRPr lang="es-AR" sz="1100" noProof="0" dirty="0"/>
          </a:p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2022</a:t>
            </a:r>
            <a:endParaRPr lang="es-AR" sz="11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Vegetativo — Caída estructural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518511801"/>
              </p:ext>
            </p:extLst>
          </p:nvPr>
        </p:nvGraphicFramePr>
        <p:xfrm>
          <a:off x="365760" y="914400"/>
          <a:ext cx="84124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85% en 10 años  ·  COVID acelera pero no causa la caída</a:t>
            </a:r>
            <a:endParaRPr lang="es-AR" sz="11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Fecundidad — Argentina en sub-reemplazo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236419636"/>
              </p:ext>
            </p:extLst>
          </p:nvPr>
        </p:nvGraphicFramePr>
        <p:xfrm>
          <a:off x="365760" y="914400"/>
          <a:ext cx="59436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914400"/>
            <a:ext cx="2286000" cy="393192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3"/>
          <p:cNvSpPr/>
          <p:nvPr/>
        </p:nvSpPr>
        <p:spPr>
          <a:xfrm>
            <a:off x="6629400" y="102412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</a:t>
            </a:r>
            <a:endParaRPr lang="es-AR" sz="1300" noProof="0" dirty="0"/>
          </a:p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sub-reemplazo?</a:t>
            </a:r>
            <a:endParaRPr lang="es-A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6629400" y="17373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Cuando la </a:t>
            </a:r>
            <a:r>
              <a:rPr lang="es-AR" sz="110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TBN</a:t>
            </a:r>
            <a:r>
              <a:rPr lang="es-AR" sz="1100" noProof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 cae por debajo de </a:t>
            </a:r>
            <a:r>
              <a:rPr lang="es-AR" sz="1100" noProof="0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2,1, cada generación no se reemplaza completamente a sí misma.</a:t>
            </a:r>
            <a:endParaRPr lang="es-AR" sz="11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629400" y="2834640"/>
            <a:ext cx="201168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6"/>
          <p:cNvSpPr/>
          <p:nvPr/>
        </p:nvSpPr>
        <p:spPr>
          <a:xfrm>
            <a:off x="6629400" y="29260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cruzó ese umbral en 2019 y lleva 7 años en sub-reemplazo, sin señales de reversión.</a:t>
            </a:r>
            <a:endParaRPr lang="es-A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Migración Neta — Un parámetro estable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446933655"/>
              </p:ext>
            </p:extLst>
          </p:nvPr>
        </p:nvGraphicFramePr>
        <p:xfrm>
          <a:off x="365760" y="914400"/>
          <a:ext cx="56692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14400"/>
            <a:ext cx="256032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3"/>
          <p:cNvSpPr/>
          <p:nvPr/>
        </p:nvSpPr>
        <p:spPr>
          <a:xfrm>
            <a:off x="6355080" y="1005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000" b="1" noProof="0" dirty="0">
                <a:solidFill>
                  <a:srgbClr val="1D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50–100× menor</a:t>
            </a:r>
            <a:endParaRPr lang="es-AR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6355080" y="14813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TBN y TBM</a:t>
            </a:r>
            <a:endParaRPr lang="es-AR" sz="1100" noProof="0" dirty="0"/>
          </a:p>
          <a:p>
            <a:pPr marL="0" indent="0" algn="l">
              <a:buNone/>
            </a:pPr>
            <a:r>
              <a:rPr lang="es-AR" sz="11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peso estructural mínimo</a:t>
            </a:r>
            <a:endParaRPr lang="es-AR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6217920" y="278892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6"/>
          <p:cNvSpPr/>
          <p:nvPr/>
        </p:nvSpPr>
        <p:spPr>
          <a:xfrm>
            <a:off x="6355080" y="2880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400" b="1" noProof="0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2020-21</a:t>
            </a:r>
            <a:endParaRPr lang="es-AR" sz="1400" noProof="0" dirty="0"/>
          </a:p>
        </p:txBody>
      </p:sp>
      <p:sp>
        <p:nvSpPr>
          <p:cNvPr id="10" name="Text 7"/>
          <p:cNvSpPr/>
          <p:nvPr/>
        </p:nvSpPr>
        <p:spPr>
          <a:xfrm>
            <a:off x="6355080" y="33375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cierre de fronteras COVID. Rebota en 2022 a niveles históricos → evento puntual, no tendencia.</a:t>
            </a:r>
            <a:endParaRPr lang="es-A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Malthus, ODE y luego UDE?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1FEC439-8D74-6341-7EDE-C5296F1B0F2E}"/>
              </a:ext>
            </a:extLst>
          </p:cNvPr>
          <p:cNvSpPr txBox="1"/>
          <p:nvPr/>
        </p:nvSpPr>
        <p:spPr>
          <a:xfrm>
            <a:off x="942975" y="897826"/>
            <a:ext cx="69151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AR" sz="1200" b="0" i="0" u="none" strike="noStrike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Para modelar la población de una nación, la estructura del modelo debe reflejar la lógica del sistema. Aquí el porqué de nuestra transición metodológica:</a:t>
            </a:r>
            <a:endParaRPr lang="es-AR" noProof="0" dirty="0"/>
          </a:p>
        </p:txBody>
      </p:sp>
      <p:pic>
        <p:nvPicPr>
          <p:cNvPr id="38" name="Imagen 37" descr="image.png">
            <a:extLst>
              <a:ext uri="{FF2B5EF4-FFF2-40B4-BE49-F238E27FC236}">
                <a16:creationId xmlns:a16="http://schemas.microsoft.com/office/drawing/2014/main" id="{4D8AA6F1-0074-DADA-1C7D-52DEB658E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16" y="1500443"/>
            <a:ext cx="2286000" cy="3478465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7FCCFC98-B478-59D4-0400-137D63CC7886}"/>
              </a:ext>
            </a:extLst>
          </p:cNvPr>
          <p:cNvSpPr txBox="1"/>
          <p:nvPr/>
        </p:nvSpPr>
        <p:spPr>
          <a:xfrm>
            <a:off x="198464" y="1588245"/>
            <a:ext cx="228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AR" sz="1400" b="1" i="0" u="none" strike="noStrike" noProof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1. Malthus vs. L-V</a:t>
            </a:r>
            <a:endParaRPr lang="es-AR" sz="1400" b="0" noProof="0" dirty="0">
              <a:effectLst/>
            </a:endParaRPr>
          </a:p>
          <a:p>
            <a:pPr>
              <a:buNone/>
            </a:pPr>
            <a:br>
              <a:rPr lang="es-AR" noProof="0" dirty="0"/>
            </a:br>
            <a:endParaRPr lang="es-AR" noProof="0" dirty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716FAE38-6D66-1D05-16DD-51F350E71488}"/>
              </a:ext>
            </a:extLst>
          </p:cNvPr>
          <p:cNvSpPr txBox="1"/>
          <p:nvPr/>
        </p:nvSpPr>
        <p:spPr>
          <a:xfrm>
            <a:off x="369914" y="1982344"/>
            <a:ext cx="20193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AR" sz="1200" b="1" i="0" u="none" strike="noStrike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Lotka-Volterra</a:t>
            </a:r>
            <a:r>
              <a:rPr lang="es-AR" sz="1200" b="0" i="0" u="none" strike="noStrike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 requiere interacción entre </a:t>
            </a:r>
            <a:r>
              <a:rPr lang="es-AR" sz="1200" b="0" u="none" strike="noStrike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dos</a:t>
            </a:r>
            <a:r>
              <a:rPr lang="es-AR" sz="1200" b="0" i="0" u="none" strike="noStrike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 poblaciones (presa-depredador). En una nación única, natalidad y mortalidad son tasas internas, no una competencia entre especies.</a:t>
            </a:r>
            <a:endParaRPr lang="es-AR" sz="1200" noProof="0" dirty="0">
              <a:solidFill>
                <a:srgbClr val="475569"/>
              </a:solidFill>
              <a:latin typeface="Lato" panose="020F0502020204030203" pitchFamily="34" charset="0"/>
            </a:endParaRPr>
          </a:p>
          <a:p>
            <a:pPr rtl="0">
              <a:buNone/>
            </a:pPr>
            <a:r>
              <a:rPr lang="es-AR" sz="1200" b="0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Usamos un </a:t>
            </a:r>
            <a:r>
              <a:rPr lang="es-AR" sz="1200" b="1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Malthus Generalizado:</a:t>
            </a:r>
          </a:p>
          <a:p>
            <a:pPr rtl="0">
              <a:buNone/>
            </a:pPr>
            <a:endParaRPr lang="es-AR" sz="1200" b="1" noProof="0" dirty="0">
              <a:effectLst/>
            </a:endParaRPr>
          </a:p>
          <a:p>
            <a:pPr>
              <a:buNone/>
            </a:pPr>
            <a:br>
              <a:rPr lang="es-AR" sz="1200" noProof="0" dirty="0"/>
            </a:br>
            <a:endParaRPr lang="es-AR" sz="1200" noProof="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30FFC081-D1AE-C3AF-9AEE-BC7FA6B24F97}"/>
              </a:ext>
            </a:extLst>
          </p:cNvPr>
          <p:cNvSpPr txBox="1"/>
          <p:nvPr/>
        </p:nvSpPr>
        <p:spPr>
          <a:xfrm>
            <a:off x="236564" y="4357771"/>
            <a:ext cx="228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s-AR" sz="1200" b="0" i="0" u="none" strike="noStrike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El crecimiento es proporcional a la población existente.</a:t>
            </a:r>
            <a:endParaRPr lang="es-AR" sz="1200" b="0" noProof="0" dirty="0">
              <a:effectLst/>
            </a:endParaRPr>
          </a:p>
          <a:p>
            <a:pPr>
              <a:buNone/>
            </a:pPr>
            <a:br>
              <a:rPr lang="es-AR" noProof="0" dirty="0"/>
            </a:br>
            <a:endParaRPr lang="es-AR" noProof="0" dirty="0"/>
          </a:p>
        </p:txBody>
      </p:sp>
      <p:pic>
        <p:nvPicPr>
          <p:cNvPr id="52" name="Imagen 51" descr="image.png">
            <a:extLst>
              <a:ext uri="{FF2B5EF4-FFF2-40B4-BE49-F238E27FC236}">
                <a16:creationId xmlns:a16="http://schemas.microsoft.com/office/drawing/2014/main" id="{E1814E51-BEBD-0DC5-1DFC-CFE575162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76" y="4149692"/>
            <a:ext cx="1476375" cy="171450"/>
          </a:xfrm>
          <a:prstGeom prst="rect">
            <a:avLst/>
          </a:prstGeom>
        </p:spPr>
      </p:pic>
      <p:pic>
        <p:nvPicPr>
          <p:cNvPr id="53" name="Imagen 52" descr="image.png">
            <a:extLst>
              <a:ext uri="{FF2B5EF4-FFF2-40B4-BE49-F238E27FC236}">
                <a16:creationId xmlns:a16="http://schemas.microsoft.com/office/drawing/2014/main" id="{66EA143B-17FC-AEA1-1FFA-AB7E4F697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477" y="1476886"/>
            <a:ext cx="2060776" cy="3478465"/>
          </a:xfrm>
          <a:prstGeom prst="rect">
            <a:avLst/>
          </a:prstGeom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7619E0FD-6A74-B877-70BD-F21DB614329F}"/>
              </a:ext>
            </a:extLst>
          </p:cNvPr>
          <p:cNvSpPr txBox="1"/>
          <p:nvPr/>
        </p:nvSpPr>
        <p:spPr>
          <a:xfrm>
            <a:off x="2467539" y="1527900"/>
            <a:ext cx="228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AR" sz="1400" b="1" i="0" u="none" strike="noStrike" noProof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2. ¿Por qué ODE?</a:t>
            </a:r>
            <a:endParaRPr lang="es-AR" sz="1400" b="0" noProof="0" dirty="0">
              <a:effectLst/>
            </a:endParaRPr>
          </a:p>
          <a:p>
            <a:pPr>
              <a:buNone/>
            </a:pPr>
            <a:br>
              <a:rPr lang="es-AR" noProof="0" dirty="0"/>
            </a:br>
            <a:endParaRPr lang="es-AR" noProof="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1FA506B0-3EFE-C17A-A56C-548ED5E174C3}"/>
              </a:ext>
            </a:extLst>
          </p:cNvPr>
          <p:cNvSpPr txBox="1"/>
          <p:nvPr/>
        </p:nvSpPr>
        <p:spPr>
          <a:xfrm>
            <a:off x="2617812" y="1958787"/>
            <a:ext cx="201930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noProof="0" dirty="0">
                <a:solidFill>
                  <a:srgbClr val="475569"/>
                </a:solidFill>
                <a:latin typeface="Lato" panose="020F0502020204030203" pitchFamily="34" charset="0"/>
              </a:rPr>
              <a:t>Las Ecuaciones Diferenciales Ordinarias (ODE) permiten capturar la dinámica continua del cambio poblacional.</a:t>
            </a:r>
          </a:p>
          <a:p>
            <a:endParaRPr lang="es-AR" sz="1200" noProof="0" dirty="0">
              <a:solidFill>
                <a:srgbClr val="475569"/>
              </a:solidFill>
              <a:latin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Respetan la causalidad</a:t>
            </a:r>
            <a:r>
              <a:rPr lang="es-AR" sz="1200" noProof="0" dirty="0">
                <a:solidFill>
                  <a:srgbClr val="475569"/>
                </a:solidFill>
                <a:latin typeface="Lato" panose="020F0502020204030203" pitchFamily="34" charset="0"/>
              </a:rPr>
              <a:t> temporal.</a:t>
            </a:r>
          </a:p>
          <a:p>
            <a:endParaRPr lang="es-AR" sz="1200" noProof="0" dirty="0">
              <a:solidFill>
                <a:srgbClr val="475569"/>
              </a:solidFill>
              <a:latin typeface="Lato" panose="020F0502020204030203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AR" sz="1200" noProof="0" dirty="0">
                <a:solidFill>
                  <a:srgbClr val="475569"/>
                </a:solidFill>
                <a:effectLst/>
                <a:latin typeface="Lato" panose="020F0502020204030203" pitchFamily="34" charset="0"/>
              </a:rPr>
              <a:t>P</a:t>
            </a:r>
            <a:r>
              <a:rPr lang="es-AR" sz="1200" noProof="0" dirty="0">
                <a:solidFill>
                  <a:srgbClr val="475569"/>
                </a:solidFill>
                <a:latin typeface="Lato" panose="020F0502020204030203" pitchFamily="34" charset="0"/>
              </a:rPr>
              <a:t>ermiten integrar flujos (migración) y tasas (natalidad) de forma natural.</a:t>
            </a:r>
            <a:endParaRPr lang="es-AR" sz="1200" noProof="0" dirty="0">
              <a:effectLst/>
            </a:endParaRPr>
          </a:p>
          <a:p>
            <a:pPr>
              <a:buNone/>
            </a:pPr>
            <a:br>
              <a:rPr lang="es-AR" sz="1200" noProof="0" dirty="0"/>
            </a:br>
            <a:endParaRPr lang="es-AR" sz="1200" noProof="0" dirty="0"/>
          </a:p>
        </p:txBody>
      </p:sp>
      <p:pic>
        <p:nvPicPr>
          <p:cNvPr id="57" name="Imagen 56" descr="image.png">
            <a:extLst>
              <a:ext uri="{FF2B5EF4-FFF2-40B4-BE49-F238E27FC236}">
                <a16:creationId xmlns:a16="http://schemas.microsoft.com/office/drawing/2014/main" id="{C9C7EE20-D89A-7BD5-51D9-01AD2543B0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910" y="1476886"/>
            <a:ext cx="2060776" cy="3478465"/>
          </a:xfrm>
          <a:prstGeom prst="rect">
            <a:avLst/>
          </a:prstGeom>
        </p:spPr>
      </p:pic>
      <p:sp>
        <p:nvSpPr>
          <p:cNvPr id="58" name="CuadroTexto 57">
            <a:extLst>
              <a:ext uri="{FF2B5EF4-FFF2-40B4-BE49-F238E27FC236}">
                <a16:creationId xmlns:a16="http://schemas.microsoft.com/office/drawing/2014/main" id="{FF597D10-56C7-8982-DFF8-DA361A309214}"/>
              </a:ext>
            </a:extLst>
          </p:cNvPr>
          <p:cNvSpPr txBox="1"/>
          <p:nvPr/>
        </p:nvSpPr>
        <p:spPr>
          <a:xfrm>
            <a:off x="4479837" y="1517945"/>
            <a:ext cx="2286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AR" sz="1400" b="1" i="0" u="none" strike="noStrike" noProof="0" dirty="0">
                <a:solidFill>
                  <a:srgbClr val="005088"/>
                </a:solidFill>
                <a:effectLst/>
                <a:latin typeface="Poppins" panose="00000500000000000000" pitchFamily="2" charset="0"/>
              </a:rPr>
              <a:t>3. El salto a UDE</a:t>
            </a:r>
            <a:endParaRPr lang="es-AR" sz="1400" b="0" noProof="0" dirty="0">
              <a:effectLst/>
            </a:endParaRPr>
          </a:p>
          <a:p>
            <a:pPr>
              <a:buNone/>
            </a:pPr>
            <a:br>
              <a:rPr lang="es-AR" noProof="0" dirty="0"/>
            </a:br>
            <a:endParaRPr lang="es-AR" noProof="0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91ECCA7-A015-C993-5A8C-A3CFE2EDB318}"/>
              </a:ext>
            </a:extLst>
          </p:cNvPr>
          <p:cNvSpPr txBox="1"/>
          <p:nvPr/>
        </p:nvSpPr>
        <p:spPr>
          <a:xfrm>
            <a:off x="4717385" y="1958787"/>
            <a:ext cx="2019301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AR" sz="1200" noProof="0" dirty="0">
                <a:solidFill>
                  <a:srgbClr val="475569"/>
                </a:solidFill>
                <a:latin typeface="Lato" panose="020F0502020204030203" pitchFamily="34" charset="0"/>
              </a:rPr>
              <a:t>Las UDE resuelven la rigidez de las ODEs clásicas.</a:t>
            </a:r>
          </a:p>
          <a:p>
            <a:br>
              <a:rPr lang="es-AR" sz="1200" noProof="0" dirty="0"/>
            </a:br>
            <a:r>
              <a:rPr lang="es-AR" sz="1200" noProof="0" dirty="0">
                <a:solidFill>
                  <a:srgbClr val="475569"/>
                </a:solidFill>
                <a:latin typeface="Lato" panose="020F0502020204030203" pitchFamily="34" charset="0"/>
              </a:rPr>
              <a:t>Donde la ODE usa parámetros fijos, la UDE inserta una red neuronal para aprender desviaciones complejas (como la caída post-2019 o el shock COVID) que una fórmula simple no puede predecir.</a:t>
            </a:r>
            <a:br>
              <a:rPr lang="es-AR" sz="1200" noProof="0" dirty="0"/>
            </a:br>
            <a:endParaRPr lang="es-AR" sz="1200" noProof="0" dirty="0"/>
          </a:p>
        </p:txBody>
      </p:sp>
      <p:pic>
        <p:nvPicPr>
          <p:cNvPr id="4" name="Imagen 3" descr="image.png">
            <a:extLst>
              <a:ext uri="{FF2B5EF4-FFF2-40B4-BE49-F238E27FC236}">
                <a16:creationId xmlns:a16="http://schemas.microsoft.com/office/drawing/2014/main" id="{0EC0BABC-BC9C-29EF-9D6C-7870F52B1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445" y="1476886"/>
            <a:ext cx="2165466" cy="3478465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CF01CB9-EF33-A3DD-78E4-3ED958782244}"/>
              </a:ext>
            </a:extLst>
          </p:cNvPr>
          <p:cNvSpPr txBox="1"/>
          <p:nvPr/>
        </p:nvSpPr>
        <p:spPr>
          <a:xfrm>
            <a:off x="6927342" y="1964083"/>
            <a:ext cx="2019301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s-AR" sz="12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Debido a que la red neuronal de la UDE va a aprender una corrección </a:t>
            </a:r>
            <a:r>
              <a:rPr lang="es-AR" sz="1200" dirty="0" err="1">
                <a:solidFill>
                  <a:srgbClr val="475569"/>
                </a:solidFill>
                <a:latin typeface="Lato"/>
                <a:ea typeface="Lato"/>
                <a:cs typeface="Lato"/>
              </a:rPr>
              <a:t>nn</a:t>
            </a:r>
            <a:r>
              <a:rPr lang="es-AR" sz="12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(τ) positiva en 2012–2022, la red neuronal termina sobreestimando a la población. </a:t>
            </a:r>
          </a:p>
          <a:p>
            <a:endParaRPr lang="es-AR" sz="1200" dirty="0">
              <a:solidFill>
                <a:srgbClr val="475569"/>
              </a:solidFill>
              <a:latin typeface="Lato" panose="020F0502020204030203" pitchFamily="34" charset="0"/>
            </a:endParaRPr>
          </a:p>
          <a:p>
            <a:r>
              <a:rPr lang="es-AR" sz="12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Necesitaremos </a:t>
            </a:r>
            <a:r>
              <a:rPr lang="es-AR" sz="1200">
                <a:solidFill>
                  <a:srgbClr val="475569"/>
                </a:solidFill>
                <a:latin typeface="Lato"/>
                <a:ea typeface="Lato"/>
                <a:cs typeface="Lato"/>
              </a:rPr>
              <a:t>modelar el agotamiento de </a:t>
            </a:r>
            <a:r>
              <a:rPr lang="es-AR" sz="12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este crecimiento extra mediante un factor de decaimiento exponencial λ</a:t>
            </a:r>
            <a:r>
              <a:rPr lang="es-AR" sz="1200" b="1" dirty="0">
                <a:solidFill>
                  <a:srgbClr val="005088"/>
                </a:solidFill>
                <a:latin typeface="Poppins"/>
                <a:cs typeface="Poppins"/>
              </a:rPr>
              <a:t> </a:t>
            </a:r>
            <a:r>
              <a:rPr lang="es-AR" sz="1200" dirty="0">
                <a:solidFill>
                  <a:srgbClr val="475569"/>
                </a:solidFill>
                <a:latin typeface="Lato"/>
                <a:ea typeface="Lato"/>
                <a:cs typeface="Lato"/>
              </a:rPr>
              <a:t>que representa la tasa de desaceleración anual de dicha corrección.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C7BF152-A0CC-CF57-3CF0-E4DDC29557AF}"/>
              </a:ext>
            </a:extLst>
          </p:cNvPr>
          <p:cNvSpPr txBox="1"/>
          <p:nvPr/>
        </p:nvSpPr>
        <p:spPr>
          <a:xfrm>
            <a:off x="6715125" y="1494136"/>
            <a:ext cx="2286000" cy="86177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s-AR" sz="1400" b="1">
                <a:solidFill>
                  <a:srgbClr val="005088"/>
                </a:solidFill>
                <a:latin typeface="Poppins"/>
                <a:cs typeface="Poppins"/>
              </a:rPr>
              <a:t>4</a:t>
            </a:r>
            <a:r>
              <a:rPr lang="es-AR" sz="1400" b="1" i="0" u="none" strike="noStrike" noProof="0">
                <a:solidFill>
                  <a:srgbClr val="005088"/>
                </a:solidFill>
                <a:effectLst/>
                <a:latin typeface="Poppins"/>
                <a:cs typeface="Poppins"/>
              </a:rPr>
              <a:t>. </a:t>
            </a:r>
            <a:r>
              <a:rPr lang="es-AR" sz="1400" b="1">
                <a:solidFill>
                  <a:srgbClr val="005088"/>
                </a:solidFill>
                <a:latin typeface="Poppins"/>
                <a:cs typeface="Poppins"/>
              </a:rPr>
              <a:t>Mejorar con λ </a:t>
            </a:r>
            <a:endParaRPr lang="es-AR" sz="1400" b="1" dirty="0">
              <a:solidFill>
                <a:srgbClr val="005088"/>
              </a:solidFill>
              <a:latin typeface="Poppins"/>
              <a:cs typeface="Poppins"/>
            </a:endParaRPr>
          </a:p>
          <a:p>
            <a:pPr>
              <a:buNone/>
            </a:pPr>
            <a:br>
              <a:rPr lang="es-AR" noProof="0" dirty="0"/>
            </a:br>
            <a:endParaRPr lang="es-AR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2AA8BF"/>
          </a:solidFill>
          <a:ln w="12700">
            <a:solidFill>
              <a:srgbClr val="2AA8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243F62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2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Ecuación de Malthus (UDE)</a:t>
            </a:r>
            <a:endParaRPr lang="es-AR" sz="13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dP</a:t>
            </a:r>
            <a:r>
              <a:rPr lang="es-AR" sz="18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s-AR" sz="1800" b="1" noProof="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</a:t>
            </a:r>
            <a:r>
              <a:rPr lang="es-AR" sz="18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P(t) · [ b(t) − d(t) + m(t) + nn(τ) ]</a:t>
            </a:r>
            <a:endParaRPr lang="es-AR" sz="18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b(t)</a:t>
            </a:r>
            <a:endParaRPr lang="es-A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Natalidad</a:t>
            </a:r>
            <a:endParaRPr lang="es-AR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57200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i="1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histórica α</a:t>
            </a:r>
            <a:endParaRPr lang="es-AR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3227832" y="22860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2" name="Text 10"/>
          <p:cNvSpPr/>
          <p:nvPr/>
        </p:nvSpPr>
        <p:spPr>
          <a:xfrm>
            <a:off x="3319272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D95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d(t)</a:t>
            </a:r>
            <a:endParaRPr lang="es-AR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3319272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Mortalidad</a:t>
            </a:r>
            <a:endParaRPr lang="es-AR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3319272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i="1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histórica γ</a:t>
            </a:r>
            <a:endParaRPr lang="es-AR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6089904" y="2286000"/>
            <a:ext cx="2651760" cy="1234440"/>
          </a:xfrm>
          <a:prstGeom prst="roundRect">
            <a:avLst>
              <a:gd name="adj" fmla="val 7407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Text 14"/>
          <p:cNvSpPr/>
          <p:nvPr/>
        </p:nvSpPr>
        <p:spPr>
          <a:xfrm>
            <a:off x="6181344" y="23591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E8A8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m(t)</a:t>
            </a:r>
            <a:endParaRPr lang="es-A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6181344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Neta</a:t>
            </a:r>
            <a:endParaRPr lang="es-AR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6181344" y="31638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000" i="1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histórica μ</a:t>
            </a:r>
            <a:endParaRPr lang="es-AR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365760" y="370332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D4060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8412480" cy="1143000"/>
          </a:xfrm>
          <a:prstGeom prst="roundRect">
            <a:avLst>
              <a:gd name="adj" fmla="val 8000"/>
            </a:avLst>
          </a:prstGeom>
          <a:solidFill>
            <a:srgbClr val="1D4060"/>
          </a:solidFill>
          <a:ln w="19050">
            <a:solidFill>
              <a:srgbClr val="2AA8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2AA8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nn(τ)</a:t>
            </a:r>
            <a:endParaRPr lang="es-AR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1965960" y="3767328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neuronal: aprende las desviaciones temporales que los parámetros constantes no capturan (caída de natalidad post-2019, shock COVID, cambios en migración). </a:t>
            </a:r>
            <a:endParaRPr lang="es-AR" sz="12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52F55-2CCC-C35C-A175-A7FA0236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B95177-BF6D-8F28-73B6-D3519CFE7DE9}"/>
              </a:ext>
            </a:extLst>
          </p:cNvPr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Costo — MSE</a:t>
            </a:r>
            <a:endParaRPr lang="es-AR" sz="26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CD0A56-1F60-25A3-43F6-B6898AE87AB5}"/>
              </a:ext>
            </a:extLst>
          </p:cNvPr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F86825-B5F9-0BDD-B8B8-F06B4CC634F9}"/>
              </a:ext>
            </a:extLst>
          </p:cNvPr>
          <p:cNvSpPr/>
          <p:nvPr/>
        </p:nvSpPr>
        <p:spPr>
          <a:xfrm>
            <a:off x="365760" y="96012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61C632D-A76F-FACE-7B44-BDA0B92D8821}"/>
              </a:ext>
            </a:extLst>
          </p:cNvPr>
          <p:cNvSpPr/>
          <p:nvPr/>
        </p:nvSpPr>
        <p:spPr>
          <a:xfrm>
            <a:off x="548640" y="100584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000" b="1" noProof="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ℒ(θ) = (1/N) · Σᵢ ( </a:t>
            </a:r>
            <a:r>
              <a:rPr lang="es-AR" sz="2000" b="1" noProof="0" dirty="0" err="1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Yobs</a:t>
            </a:r>
            <a:r>
              <a:rPr lang="es-AR" sz="2000" b="1" noProof="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(tᵢ) − Ŷ(tᵢ ; θ) )²</a:t>
            </a:r>
            <a:endParaRPr lang="es-AR" sz="2000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BC8D3E-652B-B22B-4F7F-1B485DB29E6B}"/>
              </a:ext>
            </a:extLst>
          </p:cNvPr>
          <p:cNvSpPr/>
          <p:nvPr/>
        </p:nvSpPr>
        <p:spPr>
          <a:xfrm>
            <a:off x="365760" y="2240280"/>
            <a:ext cx="3931920" cy="1207008"/>
          </a:xfrm>
          <a:prstGeom prst="roundRect">
            <a:avLst>
              <a:gd name="adj" fmla="val 7576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233A25E-7712-13B4-E977-6882724AFBEF}"/>
              </a:ext>
            </a:extLst>
          </p:cNvPr>
          <p:cNvSpPr/>
          <p:nvPr/>
        </p:nvSpPr>
        <p:spPr>
          <a:xfrm>
            <a:off x="502920" y="2313432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800" b="1" noProof="0" dirty="0">
                <a:solidFill>
                  <a:srgbClr val="7B2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endParaRPr lang="es-AR" sz="18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EEED1A6-766B-5F12-B1AF-4ED1E091F110}"/>
              </a:ext>
            </a:extLst>
          </p:cNvPr>
          <p:cNvSpPr/>
          <p:nvPr/>
        </p:nvSpPr>
        <p:spPr>
          <a:xfrm>
            <a:off x="187452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del modelo</a:t>
            </a:r>
            <a:endParaRPr lang="es-AR" sz="13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7DF839F-57F1-E63B-C52B-61430469C3B0}"/>
              </a:ext>
            </a:extLst>
          </p:cNvPr>
          <p:cNvSpPr/>
          <p:nvPr/>
        </p:nvSpPr>
        <p:spPr>
          <a:xfrm>
            <a:off x="187452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Natalidad</a:t>
            </a:r>
          </a:p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Tasa de Mortalidad</a:t>
            </a:r>
          </a:p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Tasa de Migración</a:t>
            </a:r>
            <a:endParaRPr lang="es-AR" sz="1100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AB3E55E-9D01-C758-6727-2233CD0BD64D}"/>
              </a:ext>
            </a:extLst>
          </p:cNvPr>
          <p:cNvSpPr/>
          <p:nvPr/>
        </p:nvSpPr>
        <p:spPr>
          <a:xfrm>
            <a:off x="4617720" y="2240280"/>
            <a:ext cx="3931920" cy="1207008"/>
          </a:xfrm>
          <a:prstGeom prst="roundRect">
            <a:avLst>
              <a:gd name="adj" fmla="val 7576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DC68A1A-314F-1AE9-BC00-BDE88B68F9DC}"/>
              </a:ext>
            </a:extLst>
          </p:cNvPr>
          <p:cNvSpPr/>
          <p:nvPr/>
        </p:nvSpPr>
        <p:spPr>
          <a:xfrm>
            <a:off x="4754880" y="2313432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800" b="1" noProof="0" dirty="0">
                <a:solidFill>
                  <a:srgbClr val="1D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s-AR" sz="1800" noProof="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EC09D66-FA6A-2CB6-B5D2-EC7D4DAC2D22}"/>
              </a:ext>
            </a:extLst>
          </p:cNvPr>
          <p:cNvSpPr/>
          <p:nvPr/>
        </p:nvSpPr>
        <p:spPr>
          <a:xfrm>
            <a:off x="6126480" y="2331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observaciones</a:t>
            </a:r>
            <a:endParaRPr lang="es-AR" sz="1300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080ACD1-980E-035F-0769-37C8C9A997EE}"/>
              </a:ext>
            </a:extLst>
          </p:cNvPr>
          <p:cNvSpPr/>
          <p:nvPr/>
        </p:nvSpPr>
        <p:spPr>
          <a:xfrm>
            <a:off x="6126480" y="27889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años (2012 – 2022)</a:t>
            </a:r>
            <a:endParaRPr lang="es-AR" sz="1100" noProof="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FFF7A0-1144-7851-45BF-7F5A47A8B92F}"/>
              </a:ext>
            </a:extLst>
          </p:cNvPr>
          <p:cNvSpPr/>
          <p:nvPr/>
        </p:nvSpPr>
        <p:spPr>
          <a:xfrm>
            <a:off x="365760" y="3611880"/>
            <a:ext cx="3931920" cy="1207008"/>
          </a:xfrm>
          <a:prstGeom prst="roundRect">
            <a:avLst>
              <a:gd name="adj" fmla="val 7576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C4AB91A-CBA9-31CB-5E00-87C43C974C74}"/>
              </a:ext>
            </a:extLst>
          </p:cNvPr>
          <p:cNvSpPr/>
          <p:nvPr/>
        </p:nvSpPr>
        <p:spPr>
          <a:xfrm>
            <a:off x="502920" y="3685032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800" b="1" noProof="0" dirty="0" err="1">
                <a:solidFill>
                  <a:srgbClr val="D95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Yobs</a:t>
            </a:r>
            <a:r>
              <a:rPr lang="es-AR" sz="1800" b="1" noProof="0" dirty="0">
                <a:solidFill>
                  <a:srgbClr val="D95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(tᵢ)</a:t>
            </a:r>
            <a:endParaRPr lang="es-AR" sz="1800" noProof="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9843A49-E939-8963-0DA4-35B1646EFA13}"/>
              </a:ext>
            </a:extLst>
          </p:cNvPr>
          <p:cNvSpPr/>
          <p:nvPr/>
        </p:nvSpPr>
        <p:spPr>
          <a:xfrm>
            <a:off x="187452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real observado</a:t>
            </a:r>
            <a:endParaRPr lang="es-AR" sz="13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25775E1-17F9-2D5A-3F41-3D61A60EC9FC}"/>
              </a:ext>
            </a:extLst>
          </p:cNvPr>
          <p:cNvSpPr/>
          <p:nvPr/>
        </p:nvSpPr>
        <p:spPr>
          <a:xfrm>
            <a:off x="187452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INDEC normalizada</a:t>
            </a:r>
            <a:endParaRPr lang="es-AR" sz="1100" noProof="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3D45C96-DD65-2897-455F-E9CBAA14BE92}"/>
              </a:ext>
            </a:extLst>
          </p:cNvPr>
          <p:cNvSpPr/>
          <p:nvPr/>
        </p:nvSpPr>
        <p:spPr>
          <a:xfrm>
            <a:off x="4617720" y="3611880"/>
            <a:ext cx="3931920" cy="1207008"/>
          </a:xfrm>
          <a:prstGeom prst="roundRect">
            <a:avLst>
              <a:gd name="adj" fmla="val 7576"/>
            </a:avLst>
          </a:prstGeom>
          <a:solidFill>
            <a:srgbClr val="F1F5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8497269-C031-A05A-AA00-DD61EF8579E8}"/>
              </a:ext>
            </a:extLst>
          </p:cNvPr>
          <p:cNvSpPr/>
          <p:nvPr/>
        </p:nvSpPr>
        <p:spPr>
          <a:xfrm>
            <a:off x="4754880" y="3685032"/>
            <a:ext cx="1280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1800" b="1" noProof="0" dirty="0">
                <a:solidFill>
                  <a:srgbClr val="2E8B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Ŷ(tᵢ; θ)</a:t>
            </a:r>
            <a:endParaRPr lang="es-AR" sz="180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C7FD7AD-FAB6-5BFE-821D-059F43D062E0}"/>
              </a:ext>
            </a:extLst>
          </p:cNvPr>
          <p:cNvSpPr/>
          <p:nvPr/>
        </p:nvSpPr>
        <p:spPr>
          <a:xfrm>
            <a:off x="6126480" y="3703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modelo</a:t>
            </a:r>
            <a:endParaRPr lang="es-AR" sz="1300" noProof="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71A2F0B-2857-9100-540B-E54D889A2F6E}"/>
              </a:ext>
            </a:extLst>
          </p:cNvPr>
          <p:cNvSpPr/>
          <p:nvPr/>
        </p:nvSpPr>
        <p:spPr>
          <a:xfrm>
            <a:off x="6126480" y="4160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del </a:t>
            </a:r>
            <a:r>
              <a:rPr lang="es-A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r>
              <a:rPr lang="es-A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ODE</a:t>
            </a:r>
            <a:endParaRPr lang="es-AR" sz="1100" noProof="0" dirty="0"/>
          </a:p>
        </p:txBody>
      </p:sp>
    </p:spTree>
    <p:extLst>
      <p:ext uri="{BB962C8B-B14F-4D97-AF65-F5344CB8AC3E}">
        <p14:creationId xmlns:p14="http://schemas.microsoft.com/office/powerpoint/2010/main" val="3102245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C356303-CBA6-2197-DEA1-0DD7ED94C0DE}"/>
              </a:ext>
            </a:extLst>
          </p:cNvPr>
          <p:cNvSpPr/>
          <p:nvPr/>
        </p:nvSpPr>
        <p:spPr>
          <a:xfrm>
            <a:off x="457200" y="32709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— ODE Clásica vs. UDE Entrenada</a:t>
            </a:r>
            <a:endParaRPr lang="es-AR" sz="2600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AE5B50-FA4B-0396-F0A8-10FDB251F9CA}"/>
              </a:ext>
            </a:extLst>
          </p:cNvPr>
          <p:cNvSpPr/>
          <p:nvPr/>
        </p:nvSpPr>
        <p:spPr>
          <a:xfrm>
            <a:off x="457200" y="672789"/>
            <a:ext cx="8229600" cy="18288"/>
          </a:xfrm>
          <a:prstGeom prst="rect">
            <a:avLst/>
          </a:prstGeom>
          <a:solidFill>
            <a:srgbClr val="1D7A8C"/>
          </a:solidFill>
          <a:ln w="12700">
            <a:solidFill>
              <a:srgbClr val="1D7A8C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734C1354-9AB1-F6F6-6F6D-710914982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782517"/>
            <a:ext cx="8412480" cy="2578608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84B9B3A4-ECAE-58DF-F187-9629044FA0AE}"/>
              </a:ext>
            </a:extLst>
          </p:cNvPr>
          <p:cNvSpPr/>
          <p:nvPr/>
        </p:nvSpPr>
        <p:spPr>
          <a:xfrm>
            <a:off x="365760" y="3436037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0160">
            <a:solidFill>
              <a:srgbClr val="D1E9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0F9D285-6237-BFB9-2071-A69081AC2AC7}"/>
              </a:ext>
            </a:extLst>
          </p:cNvPr>
          <p:cNvSpPr/>
          <p:nvPr/>
        </p:nvSpPr>
        <p:spPr>
          <a:xfrm>
            <a:off x="548640" y="3613097"/>
            <a:ext cx="457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55543B7-C942-E2E0-8B3F-B1FEDBEA4A52}"/>
              </a:ext>
            </a:extLst>
          </p:cNvPr>
          <p:cNvSpPr/>
          <p:nvPr/>
        </p:nvSpPr>
        <p:spPr>
          <a:xfrm>
            <a:off x="1051560" y="348799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b="1" noProof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clásica</a:t>
            </a:r>
            <a:endParaRPr lang="es-AR" sz="1000" noProof="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425FB55-214A-0E04-312E-656ACBAB1F79}"/>
              </a:ext>
            </a:extLst>
          </p:cNvPr>
          <p:cNvSpPr/>
          <p:nvPr/>
        </p:nvSpPr>
        <p:spPr>
          <a:xfrm>
            <a:off x="548640" y="4013772"/>
            <a:ext cx="45720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2893562-1EFA-42E3-859C-F012315A2BF7}"/>
              </a:ext>
            </a:extLst>
          </p:cNvPr>
          <p:cNvSpPr/>
          <p:nvPr/>
        </p:nvSpPr>
        <p:spPr>
          <a:xfrm>
            <a:off x="1051560" y="3888665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b="1" noProof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 entrenada</a:t>
            </a:r>
            <a:endParaRPr lang="es-AR" sz="1000" noProof="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D58AA46B-7DA0-50EF-4154-789FC43615E3}"/>
              </a:ext>
            </a:extLst>
          </p:cNvPr>
          <p:cNvSpPr/>
          <p:nvPr/>
        </p:nvSpPr>
        <p:spPr>
          <a:xfrm>
            <a:off x="457200" y="4149269"/>
            <a:ext cx="2514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1C863EA-C639-C2C3-6B77-BA63D6842AA8}"/>
              </a:ext>
            </a:extLst>
          </p:cNvPr>
          <p:cNvSpPr/>
          <p:nvPr/>
        </p:nvSpPr>
        <p:spPr>
          <a:xfrm>
            <a:off x="502920" y="4213277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La </a:t>
            </a:r>
            <a:r>
              <a:rPr lang="es-AR" sz="1000" b="1" noProof="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 entrenada</a:t>
            </a:r>
            <a:r>
              <a:rPr lang="es-AR" sz="1000" b="1" noProof="0" dirty="0">
                <a:ea typeface="Calibri" pitchFamily="34" charset="-122"/>
              </a:rPr>
              <a:t> </a:t>
            </a:r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se superpone casi perfectamente con los datos observados, mientras que la </a:t>
            </a:r>
            <a:r>
              <a:rPr lang="es-AR" sz="1000" b="1" noProof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clásica</a:t>
            </a:r>
            <a:r>
              <a:rPr lang="es-AR" sz="1000" b="1" noProof="0" dirty="0">
                <a:ea typeface="Calibri" pitchFamily="34" charset="-122"/>
              </a:rPr>
              <a:t> </a:t>
            </a:r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queda sistemáticamente por debajo.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260D7EF-7499-810F-3F11-19D39E611EDD}"/>
              </a:ext>
            </a:extLst>
          </p:cNvPr>
          <p:cNvSpPr/>
          <p:nvPr/>
        </p:nvSpPr>
        <p:spPr>
          <a:xfrm>
            <a:off x="3227832" y="3436037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0160">
            <a:solidFill>
              <a:srgbClr val="D1E9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FF777FC-B1F2-7339-62EE-6C98509623A2}"/>
              </a:ext>
            </a:extLst>
          </p:cNvPr>
          <p:cNvSpPr/>
          <p:nvPr/>
        </p:nvSpPr>
        <p:spPr>
          <a:xfrm>
            <a:off x="3410712" y="3646349"/>
            <a:ext cx="457200" cy="0"/>
          </a:xfrm>
          <a:prstGeom prst="line">
            <a:avLst/>
          </a:prstGeom>
          <a:noFill/>
          <a:ln w="317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70ACB37-7918-9D5F-C5C5-3EA63C785128}"/>
              </a:ext>
            </a:extLst>
          </p:cNvPr>
          <p:cNvSpPr/>
          <p:nvPr/>
        </p:nvSpPr>
        <p:spPr>
          <a:xfrm>
            <a:off x="3913632" y="352124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b="1" noProof="0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nn(τ)</a:t>
            </a:r>
            <a:endParaRPr lang="es-AR" sz="1000" noProof="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E0713F99-725B-8B17-55F7-7B30BF05F0FC}"/>
              </a:ext>
            </a:extLst>
          </p:cNvPr>
          <p:cNvSpPr/>
          <p:nvPr/>
        </p:nvSpPr>
        <p:spPr>
          <a:xfrm>
            <a:off x="3410712" y="3938957"/>
            <a:ext cx="457200" cy="0"/>
          </a:xfrm>
          <a:prstGeom prst="line">
            <a:avLst/>
          </a:prstGeom>
          <a:noFill/>
          <a:ln w="15240">
            <a:solidFill>
              <a:srgbClr val="333333"/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3BF283DB-50A8-16BF-5985-1D7F0408303D}"/>
              </a:ext>
            </a:extLst>
          </p:cNvPr>
          <p:cNvSpPr/>
          <p:nvPr/>
        </p:nvSpPr>
        <p:spPr>
          <a:xfrm>
            <a:off x="3913632" y="3803459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b="1" noProof="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r>
              <a:rPr lang="es-AR" sz="1000" b="1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 corrección)</a:t>
            </a:r>
            <a:endParaRPr lang="es-AR" sz="1000" noProof="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94CF7387-F4DF-6FB0-3F39-403F7C5E8C2C}"/>
              </a:ext>
            </a:extLst>
          </p:cNvPr>
          <p:cNvSpPr/>
          <p:nvPr/>
        </p:nvSpPr>
        <p:spPr>
          <a:xfrm>
            <a:off x="3319272" y="4149269"/>
            <a:ext cx="2514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304DB1F-6984-D758-45CB-B12C60FE0ED4}"/>
              </a:ext>
            </a:extLst>
          </p:cNvPr>
          <p:cNvSpPr/>
          <p:nvPr/>
        </p:nvSpPr>
        <p:spPr>
          <a:xfrm>
            <a:off x="3364992" y="4213277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La corrección es siempre positiva y decreciente.</a:t>
            </a:r>
          </a:p>
          <a:p>
            <a:r>
              <a:rPr lang="es-AR" sz="100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Esto nos dice que la dinámica de crecimiento poblacional esta perdiendo fuerza año tras año.</a:t>
            </a:r>
            <a:endParaRPr lang="es-AR" sz="1000" noProof="0" dirty="0">
              <a:solidFill>
                <a:srgbClr val="1B2A4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799031BC-9D62-10FA-2BAA-CA60F189C276}"/>
              </a:ext>
            </a:extLst>
          </p:cNvPr>
          <p:cNvSpPr/>
          <p:nvPr/>
        </p:nvSpPr>
        <p:spPr>
          <a:xfrm>
            <a:off x="6080760" y="3436037"/>
            <a:ext cx="269748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0160">
            <a:solidFill>
              <a:srgbClr val="D1E9F0"/>
            </a:solidFill>
            <a:prstDash val="solid"/>
          </a:ln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289A7513-06B2-904E-6D3E-6970686AF866}"/>
              </a:ext>
            </a:extLst>
          </p:cNvPr>
          <p:cNvSpPr/>
          <p:nvPr/>
        </p:nvSpPr>
        <p:spPr>
          <a:xfrm>
            <a:off x="6263640" y="3802214"/>
            <a:ext cx="4572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8B3494B-E728-9784-BC78-9A17FB086B19}"/>
              </a:ext>
            </a:extLst>
          </p:cNvPr>
          <p:cNvSpPr/>
          <p:nvPr/>
        </p:nvSpPr>
        <p:spPr>
          <a:xfrm>
            <a:off x="6766560" y="3656325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b="1" noProof="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(MSE)</a:t>
            </a:r>
            <a:endParaRPr lang="es-AR" sz="1000" noProof="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6C4B903-0C0F-F232-6371-D42563421AEF}"/>
              </a:ext>
            </a:extLst>
          </p:cNvPr>
          <p:cNvSpPr/>
          <p:nvPr/>
        </p:nvSpPr>
        <p:spPr>
          <a:xfrm>
            <a:off x="6172200" y="4149269"/>
            <a:ext cx="251460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728364F-EA50-E5B7-F57C-F37296BFC96A}"/>
              </a:ext>
            </a:extLst>
          </p:cNvPr>
          <p:cNvSpPr/>
          <p:nvPr/>
        </p:nvSpPr>
        <p:spPr>
          <a:xfrm>
            <a:off x="6217920" y="4213277"/>
            <a:ext cx="24871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La </a:t>
            </a:r>
            <a:r>
              <a:rPr lang="es-AR" sz="1000" noProof="0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loss</a:t>
            </a:r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cae abruptamente en pocas épocas. La </a:t>
            </a:r>
            <a:r>
              <a:rPr lang="es-AR" sz="1000" noProof="0" dirty="0" err="1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loss</a:t>
            </a:r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cs typeface="Calibri" pitchFamily="34" charset="-120"/>
              </a:rPr>
              <a:t> final es extremadamente baja, lo que valida el ajuste casi perfecto del 1er gráfico</a:t>
            </a:r>
          </a:p>
          <a:p>
            <a:pPr marL="0" indent="0" algn="l">
              <a:buNone/>
            </a:pPr>
            <a:r>
              <a:rPr lang="es-AR" sz="1000" noProof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AR" sz="1000" noProof="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0DE2A1DC-26EC-447B-5428-619D8646DE69}"/>
              </a:ext>
            </a:extLst>
          </p:cNvPr>
          <p:cNvSpPr/>
          <p:nvPr/>
        </p:nvSpPr>
        <p:spPr>
          <a:xfrm>
            <a:off x="1709928" y="3436037"/>
            <a:ext cx="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6F4EBE39-A005-61D7-FEA6-624C26D0894B}"/>
              </a:ext>
            </a:extLst>
          </p:cNvPr>
          <p:cNvSpPr/>
          <p:nvPr/>
        </p:nvSpPr>
        <p:spPr>
          <a:xfrm>
            <a:off x="4572000" y="3436037"/>
            <a:ext cx="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B82E781-AB3B-53C7-6FF4-167E24EE388B}"/>
              </a:ext>
            </a:extLst>
          </p:cNvPr>
          <p:cNvSpPr/>
          <p:nvPr/>
        </p:nvSpPr>
        <p:spPr>
          <a:xfrm>
            <a:off x="7424928" y="3436037"/>
            <a:ext cx="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dash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EA65074-31B0-290D-3086-86F035EB596F}"/>
              </a:ext>
            </a:extLst>
          </p:cNvPr>
          <p:cNvSpPr/>
          <p:nvPr/>
        </p:nvSpPr>
        <p:spPr>
          <a:xfrm>
            <a:off x="1051560" y="3682509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b="1" noProof="0" dirty="0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 </a:t>
            </a:r>
            <a:r>
              <a:rPr lang="es-AR" sz="1000" b="1" noProof="0" dirty="0" err="1">
                <a:solidFill>
                  <a:srgbClr val="8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pre-entrenada</a:t>
            </a:r>
            <a:endParaRPr lang="es-AR" sz="1000" noProof="0" dirty="0">
              <a:solidFill>
                <a:srgbClr val="800000"/>
              </a:solidFill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B770C7A5-66F8-D7C6-75B1-E58AD202A3E0}"/>
              </a:ext>
            </a:extLst>
          </p:cNvPr>
          <p:cNvSpPr/>
          <p:nvPr/>
        </p:nvSpPr>
        <p:spPr>
          <a:xfrm>
            <a:off x="559725" y="3807060"/>
            <a:ext cx="457200" cy="0"/>
          </a:xfrm>
          <a:prstGeom prst="line">
            <a:avLst/>
          </a:prstGeom>
          <a:noFill/>
          <a:ln w="25400">
            <a:solidFill>
              <a:srgbClr val="800000"/>
            </a:solidFill>
            <a:prstDash val="dash"/>
          </a:ln>
        </p:spPr>
        <p:txBody>
          <a:bodyPr/>
          <a:lstStyle/>
          <a:p>
            <a:endParaRPr lang="es-AR" noProof="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154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mbda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FFFFFF"/>
                </a:solidFill>
                <a:latin typeface="Calibri" pitchFamily="34" charset="0"/>
              </a:rPr>
              <a:t>λ — La tasa de desaceleración</a:t>
            </a:r>
          </a:p>
        </p:txBody>
      </p:sp>
      <p:sp>
        <p:nvSpPr>
          <p:cNvPr id="3" name="Teal line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2AA8BF"/>
          </a:solidFill>
          <a:ln w="12700">
            <a:solidFill>
              <a:srgbClr val="2AA8BF"/>
            </a:solidFill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ubtitle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AR" sz="1200" noProof="0" dirty="0">
                <a:solidFill>
                  <a:srgbClr val="A8C8D8"/>
                </a:solidFill>
                <a:latin typeface="Calibri" pitchFamily="34" charset="0"/>
              </a:rPr>
              <a:t>Debido a que la red aprendió una corrección nn(τ) positiva en 2012–2022, la red neuronal termina sobreestimando a la población. Necesitamos entonces modelar el decaimiento de la tasa de natalidad. λ será la tasa de desaceleración anual de la corrección aprendida.</a:t>
            </a:r>
          </a:p>
        </p:txBody>
      </p:sp>
      <p:sp>
        <p:nvSpPr>
          <p:cNvPr id="5" name="Formula box"/>
          <p:cNvSpPr/>
          <p:nvPr/>
        </p:nvSpPr>
        <p:spPr>
          <a:xfrm>
            <a:off x="1371600" y="1508760"/>
            <a:ext cx="5943600" cy="548640"/>
          </a:xfrm>
          <a:prstGeom prst="roundRect">
            <a:avLst>
              <a:gd name="adj" fmla="val 8333"/>
            </a:avLst>
          </a:prstGeom>
          <a:solidFill>
            <a:srgbClr val="0F1E35"/>
          </a:solidFill>
          <a:ln w="19050">
            <a:solidFill>
              <a:srgbClr val="2AA8BF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s-AR" sz="1600" b="1" noProof="0" dirty="0">
                <a:solidFill>
                  <a:srgbClr val="2AA8BF"/>
                </a:solidFill>
                <a:latin typeface="Calibri" pitchFamily="34" charset="0"/>
              </a:rPr>
              <a:t>nn</a:t>
            </a:r>
            <a:r>
              <a:rPr lang="es-AR" sz="1600" noProof="0" dirty="0">
                <a:solidFill>
                  <a:srgbClr val="FFFFFF"/>
                </a:solidFill>
                <a:latin typeface="Calibri" pitchFamily="34" charset="0"/>
              </a:rPr>
              <a:t>ₐₜₑₙ(τ) = nn(τ</a:t>
            </a:r>
            <a:r>
              <a:rPr lang="es-AR" sz="1100" noProof="0" dirty="0">
                <a:solidFill>
                  <a:srgbClr val="FFFFFF"/>
                </a:solidFill>
                <a:latin typeface="Calibri" pitchFamily="34" charset="0"/>
              </a:rPr>
              <a:t>₂₀₂₂</a:t>
            </a:r>
            <a:r>
              <a:rPr lang="es-AR" sz="1600" noProof="0" dirty="0">
                <a:solidFill>
                  <a:srgbClr val="FFFFFF"/>
                </a:solidFill>
                <a:latin typeface="Calibri" pitchFamily="34" charset="0"/>
              </a:rPr>
              <a:t>) · e</a:t>
            </a:r>
            <a:r>
              <a:rPr lang="es-AR" sz="1100" baseline="30000" noProof="0" dirty="0">
                <a:solidFill>
                  <a:srgbClr val="E8A838"/>
                </a:solidFill>
                <a:latin typeface="Calibri" pitchFamily="34" charset="0"/>
              </a:rPr>
              <a:t>−λ·(t−t</a:t>
            </a:r>
            <a:r>
              <a:rPr lang="es-AR" sz="900" baseline="30000" noProof="0" dirty="0">
                <a:solidFill>
                  <a:srgbClr val="E8A838"/>
                </a:solidFill>
                <a:latin typeface="Calibri" pitchFamily="34" charset="0"/>
              </a:rPr>
              <a:t>max</a:t>
            </a:r>
            <a:r>
              <a:rPr lang="es-AR" sz="1100" baseline="30000" noProof="0" dirty="0">
                <a:solidFill>
                  <a:srgbClr val="E8A838"/>
                </a:solidFill>
                <a:latin typeface="Calibri" pitchFamily="34" charset="0"/>
              </a:rPr>
              <a:t>)</a:t>
            </a:r>
          </a:p>
        </p:txBody>
      </p:sp>
      <p:sp>
        <p:nvSpPr>
          <p:cNvPr id="6" name="Opt box"/>
          <p:cNvSpPr/>
          <p:nvPr/>
        </p:nvSpPr>
        <p:spPr>
          <a:xfrm>
            <a:off x="365760" y="2377440"/>
            <a:ext cx="2697480" cy="1554480"/>
          </a:xfrm>
          <a:prstGeom prst="roundRect">
            <a:avLst>
              <a:gd name="adj" fmla="val 8333"/>
            </a:avLst>
          </a:prstGeom>
          <a:solidFill>
            <a:srgbClr val="1A3D28"/>
          </a:solidFill>
          <a:ln w="12700">
            <a:solidFill>
              <a:srgbClr val="2E7D52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ctr">
              <a:buNone/>
            </a:pPr>
            <a:r>
              <a:rPr lang="es-AR" sz="1400" b="1" noProof="0" dirty="0">
                <a:solidFill>
                  <a:srgbClr val="4CAF80"/>
                </a:solidFill>
                <a:latin typeface="Calibri" pitchFamily="34" charset="0"/>
              </a:rPr>
              <a:t>Optimista</a:t>
            </a:r>
          </a:p>
          <a:p>
            <a:pPr marL="0" indent="0" algn="ctr">
              <a:buNone/>
            </a:pPr>
            <a:r>
              <a:rPr lang="es-AR" sz="2800" b="1" noProof="0" dirty="0">
                <a:solidFill>
                  <a:srgbClr val="4CAF80"/>
                </a:solidFill>
                <a:latin typeface="Calibri" pitchFamily="34" charset="0"/>
              </a:rPr>
              <a:t>λ = 0.02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A8D8B8"/>
                </a:solidFill>
                <a:latin typeface="Calibri" pitchFamily="34" charset="0"/>
              </a:rPr>
              <a:t>Desaceleración muy lenta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A8D8B8"/>
                </a:solidFill>
                <a:latin typeface="Calibri" pitchFamily="34" charset="0"/>
              </a:rPr>
              <a:t>Natalidad se estabiliza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A8D8B8"/>
                </a:solidFill>
                <a:latin typeface="Calibri" pitchFamily="34" charset="0"/>
              </a:rPr>
              <a:t>cerca del nivel actual</a:t>
            </a:r>
          </a:p>
        </p:txBody>
      </p:sp>
      <p:sp>
        <p:nvSpPr>
          <p:cNvPr id="7" name="Base box"/>
          <p:cNvSpPr/>
          <p:nvPr/>
        </p:nvSpPr>
        <p:spPr>
          <a:xfrm>
            <a:off x="3200400" y="2377440"/>
            <a:ext cx="2697480" cy="1554480"/>
          </a:xfrm>
          <a:prstGeom prst="roundRect">
            <a:avLst>
              <a:gd name="adj" fmla="val 8333"/>
            </a:avLst>
          </a:prstGeom>
          <a:solidFill>
            <a:srgbClr val="1A2A4A"/>
          </a:solidFill>
          <a:ln w="12700">
            <a:solidFill>
              <a:srgbClr val="2AA8BF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ctr">
              <a:buNone/>
            </a:pPr>
            <a:r>
              <a:rPr lang="es-AR" sz="1400" b="1" noProof="0" dirty="0">
                <a:solidFill>
                  <a:srgbClr val="2AA8BF"/>
                </a:solidFill>
                <a:latin typeface="Calibri" pitchFamily="34" charset="0"/>
              </a:rPr>
              <a:t>Base</a:t>
            </a:r>
          </a:p>
          <a:p>
            <a:pPr marL="0" indent="0" algn="ctr">
              <a:buNone/>
            </a:pPr>
            <a:r>
              <a:rPr lang="es-AR" sz="2800" b="1" noProof="0" dirty="0">
                <a:solidFill>
                  <a:srgbClr val="2AA8BF"/>
                </a:solidFill>
                <a:latin typeface="Calibri" pitchFamily="34" charset="0"/>
              </a:rPr>
              <a:t>λ = 0.08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</a:rPr>
              <a:t>Desaceleración moderada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</a:rPr>
              <a:t>Corrección cae a la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</a:rPr>
              <a:t>mitad en ~9 años</a:t>
            </a:r>
          </a:p>
        </p:txBody>
      </p:sp>
      <p:sp>
        <p:nvSpPr>
          <p:cNvPr id="8" name="Pes box"/>
          <p:cNvSpPr/>
          <p:nvPr/>
        </p:nvSpPr>
        <p:spPr>
          <a:xfrm>
            <a:off x="6035040" y="2377440"/>
            <a:ext cx="2697480" cy="1554480"/>
          </a:xfrm>
          <a:prstGeom prst="roundRect">
            <a:avLst>
              <a:gd name="adj" fmla="val 8333"/>
            </a:avLst>
          </a:prstGeom>
          <a:solidFill>
            <a:srgbClr val="3D1A1A"/>
          </a:solidFill>
          <a:ln w="12700">
            <a:solidFill>
              <a:srgbClr val="D95F3B"/>
            </a:solidFill>
          </a:ln>
        </p:spPr>
        <p:txBody>
          <a:bodyPr wrap="square" lIns="182880" tIns="91440" rIns="182880" bIns="91440" rtlCol="0" anchor="t"/>
          <a:lstStyle/>
          <a:p>
            <a:pPr marL="0" indent="0" algn="ctr">
              <a:buNone/>
            </a:pPr>
            <a:r>
              <a:rPr lang="es-AR" sz="1400" b="1" noProof="0" dirty="0">
                <a:solidFill>
                  <a:srgbClr val="D95F3B"/>
                </a:solidFill>
                <a:latin typeface="Calibri" pitchFamily="34" charset="0"/>
              </a:rPr>
              <a:t>Pesimista</a:t>
            </a:r>
          </a:p>
          <a:p>
            <a:pPr marL="0" indent="0" algn="ctr">
              <a:buNone/>
            </a:pPr>
            <a:r>
              <a:rPr lang="es-AR" sz="2800" b="1" noProof="0" dirty="0">
                <a:solidFill>
                  <a:srgbClr val="D95F3B"/>
                </a:solidFill>
                <a:latin typeface="Calibri" pitchFamily="34" charset="0"/>
              </a:rPr>
              <a:t>λ = 0.20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E8B8A8"/>
                </a:solidFill>
                <a:latin typeface="Calibri" pitchFamily="34" charset="0"/>
              </a:rPr>
              <a:t>Desaceleración rápida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E8B8A8"/>
                </a:solidFill>
                <a:latin typeface="Calibri" pitchFamily="34" charset="0"/>
              </a:rPr>
              <a:t>Corrección casi</a:t>
            </a:r>
          </a:p>
          <a:p>
            <a:pPr marL="0" indent="0" algn="ctr">
              <a:buNone/>
            </a:pPr>
            <a:r>
              <a:rPr lang="es-AR" sz="1000" noProof="0" dirty="0">
                <a:solidFill>
                  <a:srgbClr val="E8B8A8"/>
                </a:solidFill>
                <a:latin typeface="Calibri" pitchFamily="34" charset="0"/>
              </a:rPr>
              <a:t>desaparece en ~15 años</a:t>
            </a:r>
          </a:p>
        </p:txBody>
      </p:sp>
      <p:sp>
        <p:nvSpPr>
          <p:cNvPr id="9" name="Note"/>
          <p:cNvSpPr/>
          <p:nvPr/>
        </p:nvSpPr>
        <p:spPr>
          <a:xfrm>
            <a:off x="457200" y="411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900" noProof="0" dirty="0">
                <a:solidFill>
                  <a:srgbClr val="6B8CAE"/>
                </a:solidFill>
                <a:latin typeface="Calibri" pitchFamily="34" charset="0"/>
              </a:rPr>
              <a:t>Con λ → 0 se recupera la UDE original.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al 2050 — Tres Escenarios con λ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2AA8BF"/>
          </a:solidFill>
          <a:ln w="12700">
            <a:solidFill>
              <a:srgbClr val="2AA8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73411468"/>
              </p:ext>
            </p:extLst>
          </p:nvPr>
        </p:nvGraphicFramePr>
        <p:xfrm>
          <a:off x="365760" y="960120"/>
          <a:ext cx="5486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080760" y="109728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43F62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6" name="Text 3"/>
          <p:cNvSpPr/>
          <p:nvPr/>
        </p:nvSpPr>
        <p:spPr>
          <a:xfrm>
            <a:off x="6217920" y="116128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200" b="1" noProof="0" dirty="0">
                <a:solidFill>
                  <a:srgbClr val="2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 (λ=0.02)</a:t>
            </a:r>
            <a:endParaRPr lang="es-AR" sz="1200" noProof="0" dirty="0"/>
          </a:p>
        </p:txBody>
      </p:sp>
      <p:sp>
        <p:nvSpPr>
          <p:cNvPr id="7" name="Text 4"/>
          <p:cNvSpPr/>
          <p:nvPr/>
        </p:nvSpPr>
        <p:spPr>
          <a:xfrm>
            <a:off x="621792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400" b="1" dirty="0">
                <a:solidFill>
                  <a:srgbClr val="2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r>
              <a:rPr lang="es-AR" sz="2400" b="1" noProof="0" dirty="0">
                <a:solidFill>
                  <a:srgbClr val="2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s-AR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7589520" y="1371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noProof="0" dirty="0" err="1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desacel</a:t>
            </a: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AR" sz="1000" noProof="0" dirty="0"/>
          </a:p>
          <a:p>
            <a:pPr marL="0" indent="0" algn="l">
              <a:buNone/>
            </a:pP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lenta</a:t>
            </a:r>
            <a:endParaRPr lang="es-AR" sz="1000" noProof="0" dirty="0"/>
          </a:p>
        </p:txBody>
      </p:sp>
      <p:sp>
        <p:nvSpPr>
          <p:cNvPr id="9" name="Shape 6"/>
          <p:cNvSpPr/>
          <p:nvPr/>
        </p:nvSpPr>
        <p:spPr>
          <a:xfrm>
            <a:off x="6080760" y="233172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43F62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0" name="Text 7"/>
          <p:cNvSpPr/>
          <p:nvPr/>
        </p:nvSpPr>
        <p:spPr>
          <a:xfrm>
            <a:off x="621792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(λ=0.08)</a:t>
            </a:r>
            <a:endParaRPr lang="es-AR" sz="1200" noProof="0" dirty="0"/>
          </a:p>
        </p:txBody>
      </p:sp>
      <p:sp>
        <p:nvSpPr>
          <p:cNvPr id="11" name="Text 8"/>
          <p:cNvSpPr/>
          <p:nvPr/>
        </p:nvSpPr>
        <p:spPr>
          <a:xfrm>
            <a:off x="6217920" y="274320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r>
              <a:rPr lang="es-AR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s-AR" sz="2400" noProof="0" dirty="0"/>
          </a:p>
        </p:txBody>
      </p:sp>
      <p:sp>
        <p:nvSpPr>
          <p:cNvPr id="12" name="Text 9"/>
          <p:cNvSpPr/>
          <p:nvPr/>
        </p:nvSpPr>
        <p:spPr>
          <a:xfrm>
            <a:off x="7589520" y="2606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noProof="0" dirty="0" err="1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desacel</a:t>
            </a: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AR" sz="1000" noProof="0" dirty="0"/>
          </a:p>
          <a:p>
            <a:pPr marL="0" indent="0" algn="l">
              <a:buNone/>
            </a:pP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endParaRPr lang="es-AR" sz="1000" noProof="0" dirty="0"/>
          </a:p>
        </p:txBody>
      </p:sp>
      <p:sp>
        <p:nvSpPr>
          <p:cNvPr id="13" name="Shape 10"/>
          <p:cNvSpPr/>
          <p:nvPr/>
        </p:nvSpPr>
        <p:spPr>
          <a:xfrm>
            <a:off x="6080760" y="3566160"/>
            <a:ext cx="2697480" cy="1097280"/>
          </a:xfrm>
          <a:prstGeom prst="roundRect">
            <a:avLst>
              <a:gd name="adj" fmla="val 8333"/>
            </a:avLst>
          </a:prstGeom>
          <a:solidFill>
            <a:srgbClr val="243F62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4" name="Text 11"/>
          <p:cNvSpPr/>
          <p:nvPr/>
        </p:nvSpPr>
        <p:spPr>
          <a:xfrm>
            <a:off x="6217920" y="36301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200" b="1" noProof="0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Pesimista (λ=0.20)</a:t>
            </a:r>
            <a:endParaRPr lang="es-AR" sz="1200" noProof="0" dirty="0"/>
          </a:p>
        </p:txBody>
      </p:sp>
      <p:sp>
        <p:nvSpPr>
          <p:cNvPr id="15" name="Text 12"/>
          <p:cNvSpPr/>
          <p:nvPr/>
        </p:nvSpPr>
        <p:spPr>
          <a:xfrm>
            <a:off x="6217920" y="39776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400" b="1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r>
              <a:rPr lang="es-AR" sz="2400" b="1" noProof="0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endParaRPr lang="es-AR" sz="2400" noProof="0" dirty="0"/>
          </a:p>
        </p:txBody>
      </p:sp>
      <p:sp>
        <p:nvSpPr>
          <p:cNvPr id="16" name="Text 13"/>
          <p:cNvSpPr/>
          <p:nvPr/>
        </p:nvSpPr>
        <p:spPr>
          <a:xfrm>
            <a:off x="7589520" y="38404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000" noProof="0" dirty="0" err="1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desacel</a:t>
            </a: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AR" sz="1000" noProof="0" dirty="0"/>
          </a:p>
          <a:p>
            <a:pPr marL="0" indent="0" algn="l">
              <a:buNone/>
            </a:pPr>
            <a:r>
              <a:rPr lang="es-AR" sz="1000" noProof="0" dirty="0">
                <a:solidFill>
                  <a:srgbClr val="A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rápida</a:t>
            </a:r>
            <a:endParaRPr lang="es-A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2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AR" sz="2600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18288"/>
          </a:xfrm>
          <a:prstGeom prst="rect">
            <a:avLst/>
          </a:prstGeom>
          <a:solidFill>
            <a:srgbClr val="2AA8BF"/>
          </a:solidFill>
          <a:ln w="12700">
            <a:solidFill>
              <a:srgbClr val="2AA8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2A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s-AR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1234440" y="1170432"/>
            <a:ext cx="18288" cy="548640"/>
          </a:xfrm>
          <a:prstGeom prst="rect">
            <a:avLst/>
          </a:prstGeom>
          <a:solidFill>
            <a:srgbClr val="2AA8BF"/>
          </a:solidFill>
          <a:ln w="12700">
            <a:solidFill>
              <a:srgbClr val="2AA8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7" name="Text 5"/>
          <p:cNvSpPr/>
          <p:nvPr/>
        </p:nvSpPr>
        <p:spPr>
          <a:xfrm>
            <a:off x="1371600" y="1078992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 está en sub-reemplazo desde 2019 y el crecimiento vegetativo cayó un 85% en 10 años. Estos son valores preocupantes a nivel nacional pero también a nivel mundial</a:t>
            </a:r>
            <a:endParaRPr lang="es-AR" sz="13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206654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s-AR" sz="2200" noProof="0" dirty="0"/>
          </a:p>
        </p:txBody>
      </p:sp>
      <p:sp>
        <p:nvSpPr>
          <p:cNvPr id="10" name="Shape 8"/>
          <p:cNvSpPr/>
          <p:nvPr/>
        </p:nvSpPr>
        <p:spPr>
          <a:xfrm>
            <a:off x="1234440" y="2157984"/>
            <a:ext cx="18288" cy="548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1" name="Text 9"/>
          <p:cNvSpPr/>
          <p:nvPr/>
        </p:nvSpPr>
        <p:spPr>
          <a:xfrm>
            <a:off x="1371600" y="2066544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UDE captura la dinámica real donde la ODE clásica falla. La red neuronal logra predecir correctamente la población para </a:t>
            </a:r>
            <a:r>
              <a:rPr lang="es-A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datos, </a:t>
            </a: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no logra capturar los cambios de la tasa de natalidad.</a:t>
            </a:r>
            <a:endParaRPr lang="es-AR" sz="13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3" name="Text 11"/>
          <p:cNvSpPr/>
          <p:nvPr/>
        </p:nvSpPr>
        <p:spPr>
          <a:xfrm>
            <a:off x="502920" y="305409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D95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s-AR" sz="2200" noProof="0" dirty="0"/>
          </a:p>
        </p:txBody>
      </p:sp>
      <p:sp>
        <p:nvSpPr>
          <p:cNvPr id="14" name="Shape 12"/>
          <p:cNvSpPr/>
          <p:nvPr/>
        </p:nvSpPr>
        <p:spPr>
          <a:xfrm>
            <a:off x="1234440" y="3145536"/>
            <a:ext cx="18288" cy="548640"/>
          </a:xfrm>
          <a:prstGeom prst="rect">
            <a:avLst/>
          </a:prstGeom>
          <a:solidFill>
            <a:srgbClr val="D95F3B"/>
          </a:solidFill>
          <a:ln w="12700">
            <a:solidFill>
              <a:srgbClr val="D95F3B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5" name="Text 13"/>
          <p:cNvSpPr/>
          <p:nvPr/>
        </p:nvSpPr>
        <p:spPr>
          <a:xfrm>
            <a:off x="1371600" y="3054096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 decaimiento λ logra </a:t>
            </a:r>
            <a:r>
              <a:rPr lang="es-A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</a:t>
            </a: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crecimiento desacelerado hasta 2050, convergiendo hacia un pico poblacional dentro del siglo.</a:t>
            </a:r>
            <a:endParaRPr lang="es-AR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8412480" cy="868680"/>
          </a:xfrm>
          <a:prstGeom prst="roundRect">
            <a:avLst>
              <a:gd name="adj" fmla="val 10526"/>
            </a:avLst>
          </a:prstGeom>
          <a:solidFill>
            <a:srgbClr val="1E355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AR" noProof="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AR" sz="2200" b="1" noProof="0" dirty="0">
                <a:solidFill>
                  <a:srgbClr val="7B8E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AR" sz="2200" noProof="0" dirty="0"/>
          </a:p>
        </p:txBody>
      </p:sp>
      <p:sp>
        <p:nvSpPr>
          <p:cNvPr id="18" name="Shape 16"/>
          <p:cNvSpPr/>
          <p:nvPr/>
        </p:nvSpPr>
        <p:spPr>
          <a:xfrm>
            <a:off x="1234440" y="4133088"/>
            <a:ext cx="18288" cy="548640"/>
          </a:xfrm>
          <a:prstGeom prst="rect">
            <a:avLst/>
          </a:prstGeom>
          <a:solidFill>
            <a:srgbClr val="7B8EBF"/>
          </a:solidFill>
          <a:ln w="12700">
            <a:solidFill>
              <a:srgbClr val="7B8EBF"/>
            </a:solidFill>
            <a:prstDash val="solid"/>
          </a:ln>
        </p:spPr>
        <p:txBody>
          <a:bodyPr/>
          <a:lstStyle/>
          <a:p>
            <a:endParaRPr lang="es-AR" noProof="0" dirty="0"/>
          </a:p>
        </p:txBody>
      </p:sp>
      <p:sp>
        <p:nvSpPr>
          <p:cNvPr id="19" name="Text 17"/>
          <p:cNvSpPr/>
          <p:nvPr/>
        </p:nvSpPr>
        <p:spPr>
          <a:xfrm>
            <a:off x="1371600" y="4041648"/>
            <a:ext cx="7223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Basándonos en nuestro análisis histórico </a:t>
            </a:r>
            <a:r>
              <a:rPr lang="es-AR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predictivo, l</a:t>
            </a:r>
            <a:r>
              <a:rPr lang="es-AR" sz="13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pregunta ya no es si Argentina llega al pico poblacional, sino cuándo. </a:t>
            </a:r>
            <a:endParaRPr lang="es-AR" sz="13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1686</Words>
  <Application>Microsoft Office PowerPoint</Application>
  <PresentationFormat>On-screen Show (16:9)</PresentationFormat>
  <Paragraphs>207</Paragraphs>
  <Slides>14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Dinámica Poblacional Argentina al 2050</dc:title>
  <dc:subject>PptxGenJS Presentation</dc:subject>
  <dc:creator>Gangui Matías</dc:creator>
  <cp:lastModifiedBy>Matias Gangui</cp:lastModifiedBy>
  <cp:revision>31</cp:revision>
  <dcterms:created xsi:type="dcterms:W3CDTF">2026-06-16T20:25:19Z</dcterms:created>
  <dcterms:modified xsi:type="dcterms:W3CDTF">2026-07-08T21:47:59Z</dcterms:modified>
</cp:coreProperties>
</file>