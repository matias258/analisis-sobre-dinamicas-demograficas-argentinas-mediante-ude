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charts/chart4.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5.xml" ContentType="application/vnd.openxmlformats-officedocument.drawingml.chart+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4" r:id="rId9"/>
    <p:sldId id="263" r:id="rId10"/>
    <p:sldId id="269" r:id="rId11"/>
    <p:sldId id="265" r:id="rId12"/>
    <p:sldId id="270" r:id="rId13"/>
    <p:sldId id="266" r:id="rId14"/>
    <p:sldId id="267"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snapToObjects="1">
      <p:cViewPr>
        <p:scale>
          <a:sx n="100" d="100"/>
          <a:sy n="100" d="100"/>
        </p:scale>
        <p:origin x="702"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title>
      <c:tx>
        <c:rich>
          <a:bodyPr/>
          <a:lstStyle/>
          <a:p>
            <a:pPr>
              <a:defRPr sz="1100" b="0" i="0" u="none" strike="noStrike">
                <a:solidFill>
                  <a:srgbClr val="64748B"/>
                </a:solidFill>
                <a:latin typeface="Arial"/>
              </a:defRPr>
            </a:pPr>
            <a:r>
              <a:rPr lang="es-AR" sz="1100" b="0" i="0" u="none" strike="noStrike">
                <a:solidFill>
                  <a:srgbClr val="64748B"/>
                </a:solidFill>
                <a:latin typeface="Arial"/>
              </a:rPr>
              <a:t>‰ por 1.000 hab.</a:t>
            </a:r>
          </a:p>
        </c:rich>
      </c:tx>
      <c:overlay val="0"/>
    </c:title>
    <c:autoTitleDeleted val="0"/>
    <c:plotArea>
      <c:layout/>
      <c:lineChart>
        <c:grouping val="standard"/>
        <c:varyColors val="0"/>
        <c:ser>
          <c:idx val="0"/>
          <c:order val="0"/>
          <c:tx>
            <c:strRef>
              <c:f>Sheet1!$B$1</c:f>
              <c:strCache>
                <c:ptCount val="1"/>
                <c:pt idx="0">
                  <c:v>TBN — Natalidad</c:v>
                </c:pt>
              </c:strCache>
            </c:strRef>
          </c:tx>
          <c:spPr>
            <a:ln w="31750" cap="flat">
              <a:solidFill>
                <a:srgbClr val="4472C4"/>
              </a:solidFill>
              <a:prstDash val="solid"/>
              <a:round/>
            </a:ln>
            <a:effectLst/>
          </c:spPr>
          <c:marker>
            <c:symbol val="circle"/>
            <c:size val="6"/>
            <c:spPr>
              <a:solidFill>
                <a:srgbClr val="4472C4"/>
              </a:solidFill>
              <a:ln w="9525" cap="flat">
                <a:solidFill>
                  <a:srgbClr val="4472C4"/>
                </a:solidFill>
                <a:prstDash val="solid"/>
                <a:round/>
              </a:ln>
              <a:effectLst/>
            </c:spPr>
          </c:marker>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Sheet1!$B$2:$B$12</c:f>
              <c:numCache>
                <c:formatCode>General</c:formatCode>
                <c:ptCount val="11"/>
                <c:pt idx="0">
                  <c:v>18</c:v>
                </c:pt>
                <c:pt idx="1">
                  <c:v>17.899999999999999</c:v>
                </c:pt>
                <c:pt idx="2">
                  <c:v>18.2</c:v>
                </c:pt>
                <c:pt idx="3">
                  <c:v>17.399999999999999</c:v>
                </c:pt>
                <c:pt idx="4">
                  <c:v>16.5</c:v>
                </c:pt>
                <c:pt idx="5">
                  <c:v>15.9</c:v>
                </c:pt>
                <c:pt idx="6">
                  <c:v>15.3</c:v>
                </c:pt>
                <c:pt idx="7">
                  <c:v>13.8</c:v>
                </c:pt>
                <c:pt idx="8">
                  <c:v>12.1</c:v>
                </c:pt>
                <c:pt idx="9">
                  <c:v>11</c:v>
                </c:pt>
                <c:pt idx="10">
                  <c:v>10.1</c:v>
                </c:pt>
              </c:numCache>
            </c:numRef>
          </c:val>
          <c:smooth val="0"/>
          <c:extLst>
            <c:ext xmlns:c16="http://schemas.microsoft.com/office/drawing/2014/chart" uri="{C3380CC4-5D6E-409C-BE32-E72D297353CC}">
              <c16:uniqueId val="{00000000-413E-4135-91A8-069A761E7DE7}"/>
            </c:ext>
          </c:extLst>
        </c:ser>
        <c:ser>
          <c:idx val="1"/>
          <c:order val="1"/>
          <c:tx>
            <c:strRef>
              <c:f>Sheet1!$C$1</c:f>
              <c:strCache>
                <c:ptCount val="1"/>
                <c:pt idx="0">
                  <c:v>TBM — Mortalidad</c:v>
                </c:pt>
              </c:strCache>
            </c:strRef>
          </c:tx>
          <c:spPr>
            <a:ln w="31750" cap="flat">
              <a:solidFill>
                <a:srgbClr val="C0504D"/>
              </a:solidFill>
              <a:prstDash val="solid"/>
              <a:round/>
            </a:ln>
            <a:effectLst/>
          </c:spPr>
          <c:marker>
            <c:symbol val="circle"/>
            <c:size val="6"/>
            <c:spPr>
              <a:solidFill>
                <a:srgbClr val="C0504D"/>
              </a:solidFill>
              <a:ln w="9525" cap="flat">
                <a:solidFill>
                  <a:srgbClr val="C0504D"/>
                </a:solidFill>
                <a:prstDash val="solid"/>
                <a:round/>
              </a:ln>
              <a:effectLst/>
            </c:spPr>
          </c:marker>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Sheet1!$C$2:$C$12</c:f>
              <c:numCache>
                <c:formatCode>General</c:formatCode>
                <c:ptCount val="11"/>
                <c:pt idx="0">
                  <c:v>7.6</c:v>
                </c:pt>
                <c:pt idx="1">
                  <c:v>7.7</c:v>
                </c:pt>
                <c:pt idx="2">
                  <c:v>7.6</c:v>
                </c:pt>
                <c:pt idx="3">
                  <c:v>7.7</c:v>
                </c:pt>
                <c:pt idx="4">
                  <c:v>8</c:v>
                </c:pt>
                <c:pt idx="5">
                  <c:v>7.7</c:v>
                </c:pt>
                <c:pt idx="6">
                  <c:v>7.6</c:v>
                </c:pt>
                <c:pt idx="7">
                  <c:v>7.6</c:v>
                </c:pt>
                <c:pt idx="8">
                  <c:v>8.1999999999999993</c:v>
                </c:pt>
                <c:pt idx="9">
                  <c:v>9.5</c:v>
                </c:pt>
                <c:pt idx="10">
                  <c:v>8.6</c:v>
                </c:pt>
              </c:numCache>
            </c:numRef>
          </c:val>
          <c:smooth val="0"/>
          <c:extLst>
            <c:ext xmlns:c16="http://schemas.microsoft.com/office/drawing/2014/chart" uri="{C3380CC4-5D6E-409C-BE32-E72D297353CC}">
              <c16:uniqueId val="{00000001-413E-4135-91A8-069A761E7DE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22"/>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title>
      <c:tx>
        <c:rich>
          <a:bodyPr/>
          <a:lstStyle/>
          <a:p>
            <a:pPr>
              <a:defRPr sz="1100" b="0" i="0" u="none" strike="noStrike">
                <a:solidFill>
                  <a:srgbClr val="64748B"/>
                </a:solidFill>
                <a:latin typeface="Arial"/>
              </a:defRPr>
            </a:pPr>
            <a:r>
              <a:rPr lang="es-AR" sz="1100" b="0" i="0" u="none" strike="noStrike">
                <a:solidFill>
                  <a:srgbClr val="64748B"/>
                </a:solidFill>
                <a:latin typeface="Arial"/>
              </a:rPr>
              <a:t>hijos por mujer</a:t>
            </a:r>
          </a:p>
        </c:rich>
      </c:tx>
      <c:overlay val="0"/>
    </c:title>
    <c:autoTitleDeleted val="0"/>
    <c:plotArea>
      <c:layout/>
      <c:lineChart>
        <c:grouping val="standard"/>
        <c:varyColors val="0"/>
        <c:ser>
          <c:idx val="0"/>
          <c:order val="0"/>
          <c:tx>
            <c:strRef>
              <c:f>Sheet1!$B$1</c:f>
              <c:strCache>
                <c:ptCount val="1"/>
                <c:pt idx="0">
                  <c:v>TGF</c:v>
                </c:pt>
              </c:strCache>
            </c:strRef>
          </c:tx>
          <c:spPr>
            <a:ln w="31750" cap="flat">
              <a:solidFill>
                <a:srgbClr val="7B2D8B"/>
              </a:solidFill>
              <a:prstDash val="solid"/>
              <a:round/>
            </a:ln>
            <a:effectLst/>
          </c:spPr>
          <c:marker>
            <c:symbol val="circle"/>
            <c:size val="6"/>
            <c:spPr>
              <a:solidFill>
                <a:srgbClr val="7B2D8B"/>
              </a:solidFill>
              <a:ln w="9525" cap="flat">
                <a:solidFill>
                  <a:srgbClr val="7B2D8B"/>
                </a:solidFill>
                <a:prstDash val="solid"/>
                <a:round/>
              </a:ln>
              <a:effectLst/>
            </c:spPr>
          </c:marker>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Sheet1!$B$2:$B$12</c:f>
              <c:numCache>
                <c:formatCode>General</c:formatCode>
                <c:ptCount val="11"/>
                <c:pt idx="0">
                  <c:v>2.62</c:v>
                </c:pt>
                <c:pt idx="1">
                  <c:v>2.58</c:v>
                </c:pt>
                <c:pt idx="2">
                  <c:v>2.65</c:v>
                </c:pt>
                <c:pt idx="3">
                  <c:v>2.5</c:v>
                </c:pt>
                <c:pt idx="4">
                  <c:v>2.33</c:v>
                </c:pt>
                <c:pt idx="5">
                  <c:v>2.1800000000000002</c:v>
                </c:pt>
                <c:pt idx="6">
                  <c:v>2.15</c:v>
                </c:pt>
                <c:pt idx="7">
                  <c:v>2.08</c:v>
                </c:pt>
                <c:pt idx="8">
                  <c:v>1.95</c:v>
                </c:pt>
                <c:pt idx="9">
                  <c:v>1.78</c:v>
                </c:pt>
                <c:pt idx="10">
                  <c:v>1.45</c:v>
                </c:pt>
              </c:numCache>
            </c:numRef>
          </c:val>
          <c:smooth val="0"/>
          <c:extLst>
            <c:ext xmlns:c16="http://schemas.microsoft.com/office/drawing/2014/chart" uri="{C3380CC4-5D6E-409C-BE32-E72D297353CC}">
              <c16:uniqueId val="{00000000-EA53-4ACF-ACEE-0FE8ECB3A576}"/>
            </c:ext>
          </c:extLst>
        </c:ser>
        <c:ser>
          <c:idx val="1"/>
          <c:order val="1"/>
          <c:tx>
            <c:strRef>
              <c:f>Sheet1!$C$1</c:f>
              <c:strCache>
                <c:ptCount val="1"/>
                <c:pt idx="0">
                  <c:v>Umbral de reemplazo (2,1)</c:v>
                </c:pt>
              </c:strCache>
            </c:strRef>
          </c:tx>
          <c:spPr>
            <a:ln w="31750" cap="flat">
              <a:solidFill>
                <a:srgbClr val="999999"/>
              </a:solidFill>
              <a:prstDash val="solid"/>
              <a:round/>
            </a:ln>
            <a:effectLst/>
          </c:spPr>
          <c:marker>
            <c:symbol val="circle"/>
            <c:size val="6"/>
            <c:spPr>
              <a:solidFill>
                <a:srgbClr val="999999"/>
              </a:solidFill>
              <a:ln w="9525" cap="flat">
                <a:solidFill>
                  <a:srgbClr val="999999"/>
                </a:solidFill>
                <a:prstDash val="solid"/>
                <a:round/>
              </a:ln>
              <a:effectLst/>
            </c:spPr>
          </c:marker>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Sheet1!$C$2:$C$12</c:f>
              <c:numCache>
                <c:formatCode>General</c:formatCode>
                <c:ptCount val="11"/>
                <c:pt idx="0">
                  <c:v>2.1</c:v>
                </c:pt>
                <c:pt idx="1">
                  <c:v>2.1</c:v>
                </c:pt>
                <c:pt idx="2">
                  <c:v>2.1</c:v>
                </c:pt>
                <c:pt idx="3">
                  <c:v>2.1</c:v>
                </c:pt>
                <c:pt idx="4">
                  <c:v>2.1</c:v>
                </c:pt>
                <c:pt idx="5">
                  <c:v>2.1</c:v>
                </c:pt>
                <c:pt idx="6">
                  <c:v>2.1</c:v>
                </c:pt>
                <c:pt idx="7">
                  <c:v>2.1</c:v>
                </c:pt>
                <c:pt idx="8">
                  <c:v>2.1</c:v>
                </c:pt>
                <c:pt idx="9">
                  <c:v>2.1</c:v>
                </c:pt>
                <c:pt idx="10">
                  <c:v>2.1</c:v>
                </c:pt>
              </c:numCache>
            </c:numRef>
          </c:val>
          <c:smooth val="0"/>
          <c:extLst>
            <c:ext xmlns:c16="http://schemas.microsoft.com/office/drawing/2014/chart" uri="{C3380CC4-5D6E-409C-BE32-E72D297353CC}">
              <c16:uniqueId val="{00000001-EA53-4ACF-ACEE-0FE8ECB3A576}"/>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3"/>
          <c:min val="1"/>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title>
      <c:tx>
        <c:rich>
          <a:bodyPr/>
          <a:lstStyle/>
          <a:p>
            <a:pPr>
              <a:defRPr sz="1100" b="0" i="0" u="none" strike="noStrike">
                <a:solidFill>
                  <a:srgbClr val="64748B"/>
                </a:solidFill>
                <a:latin typeface="Arial"/>
              </a:defRPr>
            </a:pPr>
            <a:r>
              <a:rPr lang="es-AR" sz="1100" b="0" i="0" u="none" strike="noStrike">
                <a:solidFill>
                  <a:srgbClr val="64748B"/>
                </a:solidFill>
                <a:latin typeface="Arial"/>
              </a:rPr>
              <a:t>miles de personas</a:t>
            </a:r>
          </a:p>
        </c:rich>
      </c:tx>
      <c:overlay val="0"/>
    </c:title>
    <c:autoTitleDeleted val="0"/>
    <c:plotArea>
      <c:layout/>
      <c:barChart>
        <c:barDir val="col"/>
        <c:grouping val="clustered"/>
        <c:varyColors val="0"/>
        <c:ser>
          <c:idx val="0"/>
          <c:order val="0"/>
          <c:tx>
            <c:strRef>
              <c:f>Sheet1!$B$1</c:f>
              <c:strCache>
                <c:ptCount val="1"/>
                <c:pt idx="0">
                  <c:v>Crecimiento Vegetativo (miles)</c:v>
                </c:pt>
              </c:strCache>
            </c:strRef>
          </c:tx>
          <c:spPr>
            <a:solidFill>
              <a:srgbClr val="2E8B57"/>
            </a:solidFill>
            <a:effectLst/>
          </c:spPr>
          <c:invertIfNegative val="0"/>
          <c:dLbls>
            <c:numFmt formatCode="#,##0" sourceLinked="0"/>
            <c:spPr>
              <a:noFill/>
              <a:ln>
                <a:noFill/>
              </a:ln>
              <a:effectLst/>
            </c:spPr>
            <c:txPr>
              <a:bodyPr/>
              <a:lstStyle/>
              <a:p>
                <a:pPr>
                  <a:defRPr sz="900" b="0" i="0" u="none" strike="noStrike">
                    <a:solidFill>
                      <a:srgbClr val="333333"/>
                    </a:solidFill>
                    <a:latin typeface="Arial"/>
                  </a:defRPr>
                </a:pPr>
                <a:endParaRPr lang="es-A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Sheet1!$B$2:$B$12</c:f>
              <c:numCache>
                <c:formatCode>General</c:formatCode>
                <c:ptCount val="11"/>
                <c:pt idx="0">
                  <c:v>430</c:v>
                </c:pt>
                <c:pt idx="1">
                  <c:v>428</c:v>
                </c:pt>
                <c:pt idx="2">
                  <c:v>452</c:v>
                </c:pt>
                <c:pt idx="3">
                  <c:v>420</c:v>
                </c:pt>
                <c:pt idx="4">
                  <c:v>365</c:v>
                </c:pt>
                <c:pt idx="5">
                  <c:v>355</c:v>
                </c:pt>
                <c:pt idx="6">
                  <c:v>348</c:v>
                </c:pt>
                <c:pt idx="7">
                  <c:v>275</c:v>
                </c:pt>
                <c:pt idx="8">
                  <c:v>170</c:v>
                </c:pt>
                <c:pt idx="9">
                  <c:v>68</c:v>
                </c:pt>
                <c:pt idx="10">
                  <c:v>70</c:v>
                </c:pt>
              </c:numCache>
            </c:numRef>
          </c:val>
          <c:extLst>
            <c:ext xmlns:c16="http://schemas.microsoft.com/office/drawing/2014/chart" uri="{C3380CC4-5D6E-409C-BE32-E72D297353CC}">
              <c16:uniqueId val="{00000000-96F7-435F-BCD2-7571F080810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5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title>
      <c:tx>
        <c:rich>
          <a:bodyPr/>
          <a:lstStyle/>
          <a:p>
            <a:pPr>
              <a:defRPr sz="1100" b="0" i="0" u="none" strike="noStrike">
                <a:solidFill>
                  <a:srgbClr val="64748B"/>
                </a:solidFill>
                <a:latin typeface="Arial"/>
              </a:defRPr>
            </a:pPr>
            <a:r>
              <a:rPr lang="es-AR" sz="1100" b="0" i="0" u="none" strike="noStrike">
                <a:solidFill>
                  <a:srgbClr val="64748B"/>
                </a:solidFill>
                <a:latin typeface="Arial"/>
              </a:rPr>
              <a:t>‰ por 1.000 hab.</a:t>
            </a:r>
          </a:p>
        </c:rich>
      </c:tx>
      <c:overlay val="0"/>
    </c:title>
    <c:autoTitleDeleted val="0"/>
    <c:plotArea>
      <c:layout/>
      <c:lineChart>
        <c:grouping val="standard"/>
        <c:varyColors val="0"/>
        <c:ser>
          <c:idx val="0"/>
          <c:order val="0"/>
          <c:tx>
            <c:strRef>
              <c:f>Sheet1!$B$1</c:f>
              <c:strCache>
                <c:ptCount val="1"/>
                <c:pt idx="0">
                  <c:v>Migración neta</c:v>
                </c:pt>
              </c:strCache>
            </c:strRef>
          </c:tx>
          <c:spPr>
            <a:ln w="31750" cap="flat">
              <a:solidFill>
                <a:srgbClr val="E8A838"/>
              </a:solidFill>
              <a:prstDash val="solid"/>
              <a:round/>
            </a:ln>
            <a:effectLst/>
          </c:spPr>
          <c:marker>
            <c:symbol val="circle"/>
            <c:size val="6"/>
            <c:spPr>
              <a:solidFill>
                <a:srgbClr val="E8A838"/>
              </a:solidFill>
              <a:ln w="9525" cap="flat">
                <a:solidFill>
                  <a:srgbClr val="E8A838"/>
                </a:solidFill>
                <a:prstDash val="solid"/>
                <a:round/>
              </a:ln>
              <a:effectLst/>
            </c:spPr>
          </c:marker>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Sheet1!$B$2:$B$12</c:f>
              <c:numCache>
                <c:formatCode>General</c:formatCode>
                <c:ptCount val="11"/>
                <c:pt idx="0">
                  <c:v>7.0000000000000007E-2</c:v>
                </c:pt>
                <c:pt idx="1">
                  <c:v>0.122</c:v>
                </c:pt>
                <c:pt idx="2">
                  <c:v>0.14000000000000001</c:v>
                </c:pt>
                <c:pt idx="3">
                  <c:v>0.13</c:v>
                </c:pt>
                <c:pt idx="4">
                  <c:v>0.121</c:v>
                </c:pt>
                <c:pt idx="5">
                  <c:v>0.11</c:v>
                </c:pt>
                <c:pt idx="6">
                  <c:v>0.13100000000000001</c:v>
                </c:pt>
                <c:pt idx="7">
                  <c:v>0.121</c:v>
                </c:pt>
                <c:pt idx="8">
                  <c:v>1.0999999999999999E-2</c:v>
                </c:pt>
                <c:pt idx="9">
                  <c:v>1.0999999999999999E-2</c:v>
                </c:pt>
                <c:pt idx="10">
                  <c:v>0.122</c:v>
                </c:pt>
              </c:numCache>
            </c:numRef>
          </c:val>
          <c:smooth val="0"/>
          <c:extLst>
            <c:ext xmlns:c16="http://schemas.microsoft.com/office/drawing/2014/chart" uri="{C3380CC4-5D6E-409C-BE32-E72D297353CC}">
              <c16:uniqueId val="{00000000-D18C-436E-AA76-40F2D4B3A9BF}"/>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title>
      <c:tx>
        <c:rich>
          <a:bodyPr/>
          <a:lstStyle/>
          <a:p>
            <a:pPr>
              <a:defRPr sz="1100" b="0" i="0" u="none" strike="noStrike">
                <a:solidFill>
                  <a:srgbClr val="A8C8D8"/>
                </a:solidFill>
                <a:latin typeface="Arial"/>
              </a:defRPr>
            </a:pPr>
            <a:r>
              <a:rPr lang="es-AR" sz="1100" b="0" i="0" u="none" strike="noStrike">
                <a:solidFill>
                  <a:srgbClr val="A8C8D8"/>
                </a:solidFill>
                <a:latin typeface="Arial"/>
              </a:rPr>
              <a:t>Millones de habitantes</a:t>
            </a:r>
          </a:p>
        </c:rich>
      </c:tx>
      <c:overlay val="0"/>
    </c:title>
    <c:autoTitleDeleted val="0"/>
    <c:plotArea>
      <c:layout/>
      <c:lineChart>
        <c:grouping val="standard"/>
        <c:varyColors val="0"/>
        <c:ser>
          <c:idx val="0"/>
          <c:order val="0"/>
          <c:tx>
            <c:strRef>
              <c:f>Sheet1!$B$1</c:f>
              <c:strCache>
                <c:ptCount val="1"/>
                <c:pt idx="0">
                  <c:v>Optimista</c:v>
                </c:pt>
              </c:strCache>
            </c:strRef>
          </c:tx>
          <c:spPr>
            <a:ln w="31750" cap="flat">
              <a:solidFill>
                <a:srgbClr val="2AA8BF"/>
              </a:solidFill>
              <a:prstDash val="solid"/>
              <a:round/>
            </a:ln>
            <a:effectLst/>
          </c:spPr>
          <c:marker>
            <c:symbol val="circle"/>
            <c:size val="6"/>
            <c:spPr>
              <a:solidFill>
                <a:srgbClr val="2AA8BF"/>
              </a:solidFill>
              <a:ln w="9525" cap="flat">
                <a:solidFill>
                  <a:srgbClr val="2AA8BF"/>
                </a:solidFill>
                <a:prstDash val="solid"/>
                <a:round/>
              </a:ln>
              <a:effectLst/>
            </c:spPr>
          </c:marker>
          <c:cat>
            <c:strRef>
              <c:f>Sheet1!$A$2:$A$8</c:f>
              <c:strCache>
                <c:ptCount val="7"/>
                <c:pt idx="0">
                  <c:v>2022</c:v>
                </c:pt>
                <c:pt idx="1">
                  <c:v>2025</c:v>
                </c:pt>
                <c:pt idx="2">
                  <c:v>2030</c:v>
                </c:pt>
                <c:pt idx="3">
                  <c:v>2035</c:v>
                </c:pt>
                <c:pt idx="4">
                  <c:v>2040</c:v>
                </c:pt>
                <c:pt idx="5">
                  <c:v>2045</c:v>
                </c:pt>
                <c:pt idx="6">
                  <c:v>2050</c:v>
                </c:pt>
              </c:strCache>
            </c:strRef>
          </c:cat>
          <c:val>
            <c:numRef>
              <c:f>Sheet1!$B$2:$B$8</c:f>
              <c:numCache>
                <c:formatCode>General</c:formatCode>
                <c:ptCount val="7"/>
                <c:pt idx="0">
                  <c:v>46.2</c:v>
                </c:pt>
                <c:pt idx="1">
                  <c:v>47.8</c:v>
                </c:pt>
                <c:pt idx="2">
                  <c:v>50.2</c:v>
                </c:pt>
                <c:pt idx="3">
                  <c:v>52.8</c:v>
                </c:pt>
                <c:pt idx="4">
                  <c:v>55.6</c:v>
                </c:pt>
                <c:pt idx="5">
                  <c:v>58.4</c:v>
                </c:pt>
                <c:pt idx="6">
                  <c:v>60.1</c:v>
                </c:pt>
              </c:numCache>
            </c:numRef>
          </c:val>
          <c:smooth val="0"/>
          <c:extLst>
            <c:ext xmlns:c16="http://schemas.microsoft.com/office/drawing/2014/chart" uri="{C3380CC4-5D6E-409C-BE32-E72D297353CC}">
              <c16:uniqueId val="{00000000-CA06-4D59-8419-03491E9B07EC}"/>
            </c:ext>
          </c:extLst>
        </c:ser>
        <c:ser>
          <c:idx val="1"/>
          <c:order val="1"/>
          <c:tx>
            <c:strRef>
              <c:f>Sheet1!$C$1</c:f>
              <c:strCache>
                <c:ptCount val="1"/>
                <c:pt idx="0">
                  <c:v>Base</c:v>
                </c:pt>
              </c:strCache>
            </c:strRef>
          </c:tx>
          <c:spPr>
            <a:ln w="31750" cap="flat">
              <a:solidFill>
                <a:srgbClr val="FFFFFF"/>
              </a:solidFill>
              <a:prstDash val="solid"/>
              <a:round/>
            </a:ln>
            <a:effectLst/>
          </c:spPr>
          <c:marker>
            <c:symbol val="circle"/>
            <c:size val="6"/>
            <c:spPr>
              <a:solidFill>
                <a:srgbClr val="FFFFFF"/>
              </a:solidFill>
              <a:ln w="9525" cap="flat">
                <a:solidFill>
                  <a:srgbClr val="FFFFFF"/>
                </a:solidFill>
                <a:prstDash val="solid"/>
                <a:round/>
              </a:ln>
              <a:effectLst/>
            </c:spPr>
          </c:marker>
          <c:cat>
            <c:strRef>
              <c:f>Sheet1!$A$2:$A$8</c:f>
              <c:strCache>
                <c:ptCount val="7"/>
                <c:pt idx="0">
                  <c:v>2022</c:v>
                </c:pt>
                <c:pt idx="1">
                  <c:v>2025</c:v>
                </c:pt>
                <c:pt idx="2">
                  <c:v>2030</c:v>
                </c:pt>
                <c:pt idx="3">
                  <c:v>2035</c:v>
                </c:pt>
                <c:pt idx="4">
                  <c:v>2040</c:v>
                </c:pt>
                <c:pt idx="5">
                  <c:v>2045</c:v>
                </c:pt>
                <c:pt idx="6">
                  <c:v>2050</c:v>
                </c:pt>
              </c:strCache>
            </c:strRef>
          </c:cat>
          <c:val>
            <c:numRef>
              <c:f>Sheet1!$C$2:$C$8</c:f>
              <c:numCache>
                <c:formatCode>General</c:formatCode>
                <c:ptCount val="7"/>
                <c:pt idx="0">
                  <c:v>46.2</c:v>
                </c:pt>
                <c:pt idx="1">
                  <c:v>47.4</c:v>
                </c:pt>
                <c:pt idx="2">
                  <c:v>49.2</c:v>
                </c:pt>
                <c:pt idx="3">
                  <c:v>51</c:v>
                </c:pt>
                <c:pt idx="4">
                  <c:v>52.9</c:v>
                </c:pt>
                <c:pt idx="5">
                  <c:v>54.9</c:v>
                </c:pt>
                <c:pt idx="6">
                  <c:v>58.2</c:v>
                </c:pt>
              </c:numCache>
            </c:numRef>
          </c:val>
          <c:smooth val="0"/>
          <c:extLst>
            <c:ext xmlns:c16="http://schemas.microsoft.com/office/drawing/2014/chart" uri="{C3380CC4-5D6E-409C-BE32-E72D297353CC}">
              <c16:uniqueId val="{00000001-CA06-4D59-8419-03491E9B07EC}"/>
            </c:ext>
          </c:extLst>
        </c:ser>
        <c:ser>
          <c:idx val="2"/>
          <c:order val="2"/>
          <c:tx>
            <c:strRef>
              <c:f>Sheet1!$D$1</c:f>
              <c:strCache>
                <c:ptCount val="1"/>
                <c:pt idx="0">
                  <c:v>Pesimista</c:v>
                </c:pt>
              </c:strCache>
            </c:strRef>
          </c:tx>
          <c:spPr>
            <a:ln w="31750" cap="flat">
              <a:solidFill>
                <a:srgbClr val="D95F3B"/>
              </a:solidFill>
              <a:prstDash val="solid"/>
              <a:round/>
            </a:ln>
            <a:effectLst/>
          </c:spPr>
          <c:marker>
            <c:symbol val="circle"/>
            <c:size val="6"/>
            <c:spPr>
              <a:solidFill>
                <a:srgbClr val="D95F3B"/>
              </a:solidFill>
              <a:ln w="9525" cap="flat">
                <a:solidFill>
                  <a:srgbClr val="D95F3B"/>
                </a:solidFill>
                <a:prstDash val="solid"/>
                <a:round/>
              </a:ln>
              <a:effectLst/>
            </c:spPr>
          </c:marker>
          <c:cat>
            <c:strRef>
              <c:f>Sheet1!$A$2:$A$8</c:f>
              <c:strCache>
                <c:ptCount val="7"/>
                <c:pt idx="0">
                  <c:v>2022</c:v>
                </c:pt>
                <c:pt idx="1">
                  <c:v>2025</c:v>
                </c:pt>
                <c:pt idx="2">
                  <c:v>2030</c:v>
                </c:pt>
                <c:pt idx="3">
                  <c:v>2035</c:v>
                </c:pt>
                <c:pt idx="4">
                  <c:v>2040</c:v>
                </c:pt>
                <c:pt idx="5">
                  <c:v>2045</c:v>
                </c:pt>
                <c:pt idx="6">
                  <c:v>2050</c:v>
                </c:pt>
              </c:strCache>
            </c:strRef>
          </c:cat>
          <c:val>
            <c:numRef>
              <c:f>Sheet1!$D$2:$D$8</c:f>
              <c:numCache>
                <c:formatCode>General</c:formatCode>
                <c:ptCount val="7"/>
                <c:pt idx="0">
                  <c:v>46.2</c:v>
                </c:pt>
                <c:pt idx="1">
                  <c:v>47.1</c:v>
                </c:pt>
                <c:pt idx="2">
                  <c:v>48.4</c:v>
                </c:pt>
                <c:pt idx="3">
                  <c:v>49.9</c:v>
                </c:pt>
                <c:pt idx="4">
                  <c:v>51.3</c:v>
                </c:pt>
                <c:pt idx="5">
                  <c:v>52.8</c:v>
                </c:pt>
                <c:pt idx="6">
                  <c:v>53.9</c:v>
                </c:pt>
              </c:numCache>
            </c:numRef>
          </c:val>
          <c:smooth val="0"/>
          <c:extLst>
            <c:ext xmlns:c16="http://schemas.microsoft.com/office/drawing/2014/chart" uri="{C3380CC4-5D6E-409C-BE32-E72D297353CC}">
              <c16:uniqueId val="{00000002-CA06-4D59-8419-03491E9B07E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8C8D8"/>
                </a:solidFill>
                <a:latin typeface="Arial"/>
              </a:defRPr>
            </a:pPr>
            <a:endParaRPr lang="en-US"/>
          </a:p>
        </c:txPr>
        <c:crossAx val="2094734552"/>
        <c:crosses val="autoZero"/>
        <c:auto val="1"/>
        <c:lblAlgn val="ctr"/>
        <c:lblOffset val="100"/>
        <c:noMultiLvlLbl val="1"/>
      </c:catAx>
      <c:valAx>
        <c:axId val="2094734552"/>
        <c:scaling>
          <c:orientation val="minMax"/>
          <c:max val="65"/>
          <c:min val="42"/>
        </c:scaling>
        <c:delete val="0"/>
        <c:axPos val="l"/>
        <c:majorGridlines>
          <c:spPr>
            <a:ln w="6350" cap="flat">
              <a:solidFill>
                <a:srgbClr val="2A3F6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8C8D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FFFFF"/>
              </a:solidFill>
            </a:defRPr>
          </a:pPr>
          <a:endParaRPr lang="en-US"/>
        </a:p>
      </c:txPr>
    </c:legend>
    <c:plotVisOnly val="1"/>
    <c:dispBlanksAs val="span"/>
    <c:showDLblsOverMax val="1"/>
  </c:chart>
  <c:spPr>
    <a:solidFill>
      <a:srgbClr val="1B2A4A"/>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39827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Bienvenida. Presentar el contexto brevemente: el debate público sobre baja </a:t>
            </a:r>
            <a:r>
              <a:rPr lang="en-US" dirty="0" err="1"/>
              <a:t>natalidad</a:t>
            </a:r>
            <a:r>
              <a:rPr lang="en-US" dirty="0"/>
              <a:t> es ruidoso pero poco preciso. Este trabajo intenta usar herramientas rigurosas — ecuaciones diferenciales y redes neuronales — para entender hacia dónde va Argentina demográficamente. Duración estimada: ~50 seg.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Explicar brevemente cada métrica. Destacar que la TGF es la más reveladora porque mide fecundidad real, no solo </a:t>
            </a:r>
            <a:r>
              <a:rPr lang="en-US" dirty="0" err="1"/>
              <a:t>tasas</a:t>
            </a:r>
            <a:r>
              <a:rPr lang="en-US" dirty="0"/>
              <a:t> </a:t>
            </a:r>
            <a:r>
              <a:rPr lang="en-US" dirty="0" err="1"/>
              <a:t>brutas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Destacar la 'tijera': TBN cae a la mitad, TBM casi no cambia (excepto COVID). La brecha es el crecimiento </a:t>
            </a:r>
            <a:r>
              <a:rPr lang="en-US" dirty="0" err="1"/>
              <a:t>vegetativo</a:t>
            </a:r>
            <a:r>
              <a:rPr lang="en-US" dirty="0"/>
              <a:t> y se está cerrando inevitablemente. COVID se ve claramente como spike en TBM </a:t>
            </a:r>
            <a:r>
              <a:rPr lang="en-US" dirty="0" err="1"/>
              <a:t>en</a:t>
            </a:r>
            <a:r>
              <a:rPr lang="en-US" dirty="0"/>
              <a:t> 2021</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La TGF es el indicador más revelador. La caída de 2.65 en 2014 a 1.45 en 2022 es brutal. Subrayar que llevar 7 años en sub-reemplazo tiene consecuencias de largo plazo que ya son inevitables.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El crecimiento vegetativo es la consecuencia directa de la tijera anterior. 430k→70k en 10 años. El COVID genera un salto adicional en 2020-2021, pero la caída ya </a:t>
            </a:r>
            <a:r>
              <a:rPr lang="en-US" dirty="0" err="1"/>
              <a:t>venía</a:t>
            </a:r>
            <a:r>
              <a:rPr lang="en-US" dirty="0"/>
              <a:t> antes, </a:t>
            </a:r>
            <a:r>
              <a:rPr lang="en-US" dirty="0" err="1"/>
              <a:t>el</a:t>
            </a:r>
            <a:r>
              <a:rPr lang="en-US" dirty="0"/>
              <a:t> COVID solo aceleró lo inevitable.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Migración es el tercer parámetro de Malthus pero con peso mínimo. Lo importante: es estable pre-COVID, colapsa por cierre de fronteras y vuelve a normalidad. Se modela como constante μ. El colapso de 2020-21 lo absorbe la red neuronal.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El MSE no es arbitrario, se deriva de asumir ruido gaussiano. Cada año </a:t>
            </a:r>
            <a:r>
              <a:rPr lang="en-US" dirty="0" err="1"/>
              <a:t>pesa</a:t>
            </a:r>
            <a:r>
              <a:rPr lang="en-US" dirty="0"/>
              <a:t> </a:t>
            </a:r>
            <a:r>
              <a:rPr lang="en-US" dirty="0" err="1"/>
              <a:t>igual</a:t>
            </a:r>
            <a:r>
              <a:rPr lang="en-US" dirty="0"/>
              <a:t>, incluyendo COVID. Por eso el modelo tiene que ser robusto. La optimización en dos fases: Adam baja rápido, L-BFGS refina el mínimo.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Explicar la UDE: tomamos la ecuación de Malthus, que tiene los parámetros demográficos conocidos, y le sumamos una red neuronal que aprende todo lo que los parámetros constantes no pueden explicar. La red tiene 541 pesos, capas 16×16×1.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70857-1658-E873-4DA8-5F9F458C21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074555-C3D7-8640-4C83-5024C18F91CF}"/>
              </a:ext>
            </a:extLst>
          </p:cNvPr>
          <p:cNvSpPr>
            <a:spLocks noGrp="1" noRot="1" noChangeAspect="1"/>
          </p:cNvSpPr>
          <p:nvPr>
            <p:ph type="sldImg"/>
          </p:nvPr>
        </p:nvSpPr>
        <p:spPr/>
        <p:txBody>
          <a:bodyPr/>
          <a:lstStyle/>
          <a:p>
            <a:endParaRPr lang="es-AR"/>
          </a:p>
        </p:txBody>
      </p:sp>
      <p:sp>
        <p:nvSpPr>
          <p:cNvPr id="3" name="Notes Placeholder 2">
            <a:extLst>
              <a:ext uri="{FF2B5EF4-FFF2-40B4-BE49-F238E27FC236}">
                <a16:creationId xmlns:a16="http://schemas.microsoft.com/office/drawing/2014/main" id="{A70B2693-5BD4-2E3D-5AE0-F5CE2B514450}"/>
              </a:ext>
            </a:extLst>
          </p:cNvPr>
          <p:cNvSpPr>
            <a:spLocks noGrp="1"/>
          </p:cNvSpPr>
          <p:nvPr>
            <p:ph type="body" idx="1"/>
          </p:nvPr>
        </p:nvSpPr>
        <p:spPr/>
        <p:txBody>
          <a:bodyPr/>
          <a:lstStyle/>
          <a:p>
            <a:r>
              <a:rPr lang="en-US" dirty="0"/>
              <a:t>El MSE no es arbitrario, se deriva de asumir ruido gaussiano. Cada año </a:t>
            </a:r>
            <a:r>
              <a:rPr lang="en-US" dirty="0" err="1"/>
              <a:t>pesa</a:t>
            </a:r>
            <a:r>
              <a:rPr lang="en-US" dirty="0"/>
              <a:t> </a:t>
            </a:r>
            <a:r>
              <a:rPr lang="en-US" dirty="0" err="1"/>
              <a:t>igual</a:t>
            </a:r>
            <a:r>
              <a:rPr lang="en-US" dirty="0"/>
              <a:t>, incluyendo COVID. Por eso el modelo tiene que ser robusto. La optimización en dos fases: Adam baja rápido, L-BFGS refina el mínimo. </a:t>
            </a:r>
          </a:p>
        </p:txBody>
      </p:sp>
      <p:sp>
        <p:nvSpPr>
          <p:cNvPr id="4" name="Slide Number Placeholder 3">
            <a:extLst>
              <a:ext uri="{FF2B5EF4-FFF2-40B4-BE49-F238E27FC236}">
                <a16:creationId xmlns:a16="http://schemas.microsoft.com/office/drawing/2014/main" id="{67C51F56-384C-4454-F488-4FC4BCD89EB3}"/>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1060308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El ajuste perfecto de la UDE vs. la falla de la ODE clásica es la prueba de concepto. La red aprende algo real. Mencionar que el segundo gráfico (corrección decreciente) muestra que los parámetros actuales son </a:t>
            </a:r>
            <a:r>
              <a:rPr lang="en-US" dirty="0" err="1"/>
              <a:t>insuficientes</a:t>
            </a:r>
            <a:r>
              <a:rPr lang="en-US" dirty="0"/>
              <a:t>. Nuestro </a:t>
            </a:r>
            <a:r>
              <a:rPr lang="en-US" dirty="0" err="1"/>
              <a:t>análisis</a:t>
            </a:r>
            <a:r>
              <a:rPr lang="en-US" dirty="0"/>
              <a:t> tiene límites reconocidos.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Marcador de notas 2"/>
          <p:cNvSpPr>
            <a:spLocks noGrp="1"/>
          </p:cNvSpPr>
          <p:nvPr>
            <p:ph type="body" idx="1"/>
          </p:nvPr>
        </p:nvSpPr>
        <p:spPr>
          <a:xfrm>
            <a:off x="514350" y="4400550"/>
            <a:ext cx="4114800" cy="3600450"/>
          </a:xfrm>
          <a:prstGeom prst="rect">
            <a:avLst/>
          </a:prstGeom>
        </p:spPr>
        <p:txBody>
          <a:bodyPr/>
          <a:lstStyle/>
          <a:p>
            <a:r>
              <a:rPr lang="es-AR" dirty="0"/>
              <a:t>Agregar discrepancia entre la curva con sólo ODE y la curva implementada con UDE</a:t>
            </a:r>
          </a:p>
        </p:txBody>
      </p:sp>
    </p:spTree>
    <p:extLst>
      <p:ext uri="{BB962C8B-B14F-4D97-AF65-F5344CB8AC3E}">
        <p14:creationId xmlns:p14="http://schemas.microsoft.com/office/powerpoint/2010/main" val="40382257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Los tres escenarios modifican la tasa de </a:t>
            </a:r>
            <a:r>
              <a:rPr lang="en-US" dirty="0" err="1"/>
              <a:t>migración</a:t>
            </a:r>
            <a:r>
              <a:rPr lang="en-US" dirty="0"/>
              <a:t> y </a:t>
            </a:r>
            <a:r>
              <a:rPr lang="en-US" dirty="0" err="1"/>
              <a:t>natalidad</a:t>
            </a:r>
            <a:r>
              <a:rPr lang="en-US" dirty="0"/>
              <a:t> futura. Ninguno predice una reducción absoluta de población pero la desaceleración es clara. La pregunta ya no es si llegamos al pico sino </a:t>
            </a:r>
            <a:r>
              <a:rPr lang="en-US" dirty="0" err="1"/>
              <a:t>cuándo</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Cierre. Recapitular los 4 puntos. Subrayar la limitación honesta: el análisis es una versión simplificada de un fenómeno complejo. Para predecir con más precisión se </a:t>
            </a:r>
            <a:r>
              <a:rPr lang="en-US" dirty="0" err="1"/>
              <a:t>necesitarían</a:t>
            </a:r>
            <a:r>
              <a:rPr lang="en-US" dirty="0"/>
              <a:t> </a:t>
            </a:r>
            <a:r>
              <a:rPr lang="en-US" dirty="0" err="1"/>
              <a:t>más</a:t>
            </a:r>
            <a:r>
              <a:rPr lang="en-US" dirty="0"/>
              <a:t> </a:t>
            </a:r>
            <a:r>
              <a:rPr lang="en-US" dirty="0" err="1"/>
              <a:t>modelos</a:t>
            </a:r>
            <a:r>
              <a:rPr lang="en-US" dirty="0"/>
              <a:t>, datos de educación, políticas de </a:t>
            </a:r>
            <a:r>
              <a:rPr lang="en-US" dirty="0" err="1"/>
              <a:t>natalidad</a:t>
            </a:r>
            <a:r>
              <a:rPr lang="en-US" dirty="0"/>
              <a:t>, etc.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5611091" y="-274320"/>
            <a:ext cx="3840480" cy="5760720"/>
          </a:xfrm>
          <a:prstGeom prst="roundRect">
            <a:avLst>
              <a:gd name="adj" fmla="val 7143"/>
            </a:avLst>
          </a:prstGeom>
          <a:solidFill>
            <a:srgbClr val="1D7A8C">
              <a:alpha val="25000"/>
            </a:srgbClr>
          </a:solidFill>
          <a:ln w="12700">
            <a:solidFill>
              <a:srgbClr val="1D7A8C"/>
            </a:solidFill>
            <a:prstDash val="solid"/>
          </a:ln>
        </p:spPr>
        <p:txBody>
          <a:bodyPr/>
          <a:lstStyle/>
          <a:p>
            <a:endParaRPr lang="es-AR"/>
          </a:p>
        </p:txBody>
      </p:sp>
      <p:sp>
        <p:nvSpPr>
          <p:cNvPr id="3" name="Text 1"/>
          <p:cNvSpPr/>
          <p:nvPr/>
        </p:nvSpPr>
        <p:spPr>
          <a:xfrm>
            <a:off x="502920" y="914400"/>
            <a:ext cx="6858000" cy="1005840"/>
          </a:xfrm>
          <a:prstGeom prst="rect">
            <a:avLst/>
          </a:prstGeom>
          <a:noFill/>
          <a:ln/>
        </p:spPr>
        <p:txBody>
          <a:bodyPr wrap="square" lIns="0" tIns="0" rIns="0" bIns="0" rtlCol="0" anchor="ctr"/>
          <a:lstStyle/>
          <a:p>
            <a:pPr marL="0" indent="0" algn="l">
              <a:buNone/>
            </a:pPr>
            <a:r>
              <a:rPr lang="en-US" sz="3600" b="1" dirty="0">
                <a:solidFill>
                  <a:srgbClr val="FFFFFF"/>
                </a:solidFill>
                <a:latin typeface="Calibri" pitchFamily="34" charset="0"/>
                <a:ea typeface="Calibri" pitchFamily="34" charset="-122"/>
                <a:cs typeface="Calibri" pitchFamily="34" charset="-120"/>
              </a:rPr>
              <a:t>Dinámica Poblacional Argentina</a:t>
            </a:r>
            <a:endParaRPr lang="en-US" sz="3600" dirty="0"/>
          </a:p>
        </p:txBody>
      </p:sp>
      <p:sp>
        <p:nvSpPr>
          <p:cNvPr id="4" name="Text 2"/>
          <p:cNvSpPr/>
          <p:nvPr/>
        </p:nvSpPr>
        <p:spPr>
          <a:xfrm>
            <a:off x="502920" y="1783080"/>
            <a:ext cx="5029200" cy="731520"/>
          </a:xfrm>
          <a:prstGeom prst="rect">
            <a:avLst/>
          </a:prstGeom>
          <a:noFill/>
          <a:ln/>
        </p:spPr>
        <p:txBody>
          <a:bodyPr wrap="square" lIns="0" tIns="0" rIns="0" bIns="0" rtlCol="0" anchor="ctr"/>
          <a:lstStyle/>
          <a:p>
            <a:pPr marL="0" indent="0" algn="l">
              <a:buNone/>
            </a:pPr>
            <a:r>
              <a:rPr lang="en-US" sz="3600" b="1" dirty="0">
                <a:solidFill>
                  <a:srgbClr val="2AA8BF"/>
                </a:solidFill>
                <a:latin typeface="Calibri" pitchFamily="34" charset="0"/>
                <a:ea typeface="Calibri" pitchFamily="34" charset="-122"/>
                <a:cs typeface="Calibri" pitchFamily="34" charset="-120"/>
              </a:rPr>
              <a:t>al 2050</a:t>
            </a:r>
            <a:endParaRPr lang="en-US" sz="3600" dirty="0"/>
          </a:p>
        </p:txBody>
      </p:sp>
      <p:sp>
        <p:nvSpPr>
          <p:cNvPr id="5" name="Text 3"/>
          <p:cNvSpPr/>
          <p:nvPr/>
        </p:nvSpPr>
        <p:spPr>
          <a:xfrm>
            <a:off x="502920" y="2606040"/>
            <a:ext cx="7132320" cy="502920"/>
          </a:xfrm>
          <a:prstGeom prst="rect">
            <a:avLst/>
          </a:prstGeom>
          <a:noFill/>
          <a:ln/>
        </p:spPr>
        <p:txBody>
          <a:bodyPr wrap="square" lIns="0" tIns="0" rIns="0" bIns="0" rtlCol="0" anchor="ctr"/>
          <a:lstStyle/>
          <a:p>
            <a:pPr marL="0" indent="0" algn="l">
              <a:buNone/>
            </a:pPr>
            <a:r>
              <a:rPr lang="en-US" sz="1600" dirty="0">
                <a:solidFill>
                  <a:srgbClr val="A8C8D8"/>
                </a:solidFill>
                <a:latin typeface="Calibri" pitchFamily="34" charset="0"/>
                <a:ea typeface="Calibri" pitchFamily="34" charset="-122"/>
                <a:cs typeface="Calibri" pitchFamily="34" charset="-120"/>
              </a:rPr>
              <a:t>Predicción con Ecuaciones Diferenciales Universales (UDE)</a:t>
            </a:r>
            <a:endParaRPr lang="en-US" sz="1600" dirty="0"/>
          </a:p>
        </p:txBody>
      </p:sp>
      <p:sp>
        <p:nvSpPr>
          <p:cNvPr id="6" name="Shape 4"/>
          <p:cNvSpPr/>
          <p:nvPr/>
        </p:nvSpPr>
        <p:spPr>
          <a:xfrm>
            <a:off x="502920" y="3246120"/>
            <a:ext cx="2743200" cy="27432"/>
          </a:xfrm>
          <a:prstGeom prst="rect">
            <a:avLst/>
          </a:prstGeom>
          <a:solidFill>
            <a:srgbClr val="2AA8BF"/>
          </a:solidFill>
          <a:ln w="12700">
            <a:solidFill>
              <a:srgbClr val="2AA8BF"/>
            </a:solidFill>
            <a:prstDash val="solid"/>
          </a:ln>
        </p:spPr>
        <p:txBody>
          <a:bodyPr/>
          <a:lstStyle/>
          <a:p>
            <a:endParaRPr lang="es-AR"/>
          </a:p>
        </p:txBody>
      </p:sp>
      <p:sp>
        <p:nvSpPr>
          <p:cNvPr id="7" name="Text 5"/>
          <p:cNvSpPr/>
          <p:nvPr/>
        </p:nvSpPr>
        <p:spPr>
          <a:xfrm>
            <a:off x="502920" y="3429000"/>
            <a:ext cx="5486400" cy="365760"/>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Gangui Matías</a:t>
            </a:r>
            <a:endParaRPr lang="en-US" sz="1400" dirty="0"/>
          </a:p>
        </p:txBody>
      </p:sp>
      <p:sp>
        <p:nvSpPr>
          <p:cNvPr id="8" name="Text 6"/>
          <p:cNvSpPr/>
          <p:nvPr/>
        </p:nvSpPr>
        <p:spPr>
          <a:xfrm>
            <a:off x="502920" y="3822192"/>
            <a:ext cx="6858000" cy="320040"/>
          </a:xfrm>
          <a:prstGeom prst="rect">
            <a:avLst/>
          </a:prstGeom>
          <a:noFill/>
          <a:ln/>
        </p:spPr>
        <p:txBody>
          <a:bodyPr wrap="square" lIns="0" tIns="0" rIns="0" bIns="0" rtlCol="0" anchor="ctr"/>
          <a:lstStyle/>
          <a:p>
            <a:pPr marL="0" indent="0" algn="l">
              <a:buNone/>
            </a:pPr>
            <a:r>
              <a:rPr lang="en-US" sz="1100" dirty="0">
                <a:solidFill>
                  <a:srgbClr val="A8C8D8"/>
                </a:solidFill>
                <a:latin typeface="Calibri" pitchFamily="34" charset="0"/>
                <a:ea typeface="Calibri" pitchFamily="34" charset="-122"/>
                <a:cs typeface="Calibri" pitchFamily="34" charset="-120"/>
              </a:rPr>
              <a:t>Trabajo Práctico · Dinámicas poblacionales y escenarios al 2050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Contexto y Motivación</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sp>
        <p:nvSpPr>
          <p:cNvPr id="4" name="Shape 2"/>
          <p:cNvSpPr/>
          <p:nvPr/>
        </p:nvSpPr>
        <p:spPr>
          <a:xfrm>
            <a:off x="365760" y="960120"/>
            <a:ext cx="4023360" cy="3291840"/>
          </a:xfrm>
          <a:prstGeom prst="roundRect">
            <a:avLst>
              <a:gd name="adj" fmla="val 277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pic>
        <p:nvPicPr>
          <p:cNvPr id="5" name="Image 0" descr="preencoded.png"/>
          <p:cNvPicPr>
            <a:picLocks noChangeAspect="1"/>
          </p:cNvPicPr>
          <p:nvPr/>
        </p:nvPicPr>
        <p:blipFill>
          <a:blip r:embed="rId3"/>
          <a:stretch>
            <a:fillRect/>
          </a:stretch>
        </p:blipFill>
        <p:spPr>
          <a:xfrm>
            <a:off x="777240" y="1143000"/>
            <a:ext cx="502920" cy="502920"/>
          </a:xfrm>
          <a:prstGeom prst="rect">
            <a:avLst/>
          </a:prstGeom>
        </p:spPr>
      </p:pic>
      <p:sp>
        <p:nvSpPr>
          <p:cNvPr id="6" name="Text 3"/>
          <p:cNvSpPr/>
          <p:nvPr/>
        </p:nvSpPr>
        <p:spPr>
          <a:xfrm>
            <a:off x="1371600" y="1143000"/>
            <a:ext cx="2743200" cy="502920"/>
          </a:xfrm>
          <a:prstGeom prst="rect">
            <a:avLst/>
          </a:prstGeom>
          <a:noFill/>
          <a:ln/>
        </p:spPr>
        <p:txBody>
          <a:bodyPr wrap="square" lIns="0" tIns="0" rIns="0" bIns="0" rtlCol="0" anchor="ctr"/>
          <a:lstStyle/>
          <a:p>
            <a:pPr marL="0" indent="0" algn="l">
              <a:buNone/>
            </a:pPr>
            <a:r>
              <a:rPr lang="en-US" sz="1500" b="1" dirty="0">
                <a:solidFill>
                  <a:srgbClr val="1B2A4A"/>
                </a:solidFill>
                <a:latin typeface="Calibri" pitchFamily="34" charset="0"/>
                <a:ea typeface="Calibri" pitchFamily="34" charset="-122"/>
                <a:cs typeface="Calibri" pitchFamily="34" charset="-120"/>
              </a:rPr>
              <a:t>El problema global</a:t>
            </a:r>
            <a:endParaRPr lang="en-US" sz="1500" dirty="0"/>
          </a:p>
        </p:txBody>
      </p:sp>
      <p:sp>
        <p:nvSpPr>
          <p:cNvPr id="7" name="Text 4"/>
          <p:cNvSpPr/>
          <p:nvPr/>
        </p:nvSpPr>
        <p:spPr>
          <a:xfrm>
            <a:off x="594360" y="1755648"/>
            <a:ext cx="3657600" cy="2286000"/>
          </a:xfrm>
          <a:prstGeom prst="rect">
            <a:avLst/>
          </a:prstGeom>
          <a:noFill/>
          <a:ln/>
        </p:spPr>
        <p:txBody>
          <a:bodyPr wrap="square" lIns="0" tIns="0" rIns="0" bIns="0" rtlCol="0" anchor="t"/>
          <a:lstStyle/>
          <a:p>
            <a:pPr marL="0" indent="0" algn="l">
              <a:buNone/>
            </a:pPr>
            <a:r>
              <a:rPr lang="en-US" sz="1300" dirty="0">
                <a:solidFill>
                  <a:srgbClr val="1B2A4A"/>
                </a:solidFill>
                <a:latin typeface="Calibri" pitchFamily="34" charset="0"/>
                <a:ea typeface="Calibri" pitchFamily="34" charset="-122"/>
                <a:cs typeface="Calibri" pitchFamily="34" charset="-120"/>
              </a:rPr>
              <a:t>La mayoría de los países desarrollados no alcanzan la tasa de </a:t>
            </a:r>
            <a:r>
              <a:rPr lang="en-US" sz="1300" dirty="0" err="1">
                <a:solidFill>
                  <a:srgbClr val="1B2A4A"/>
                </a:solidFill>
                <a:latin typeface="Calibri" pitchFamily="34" charset="0"/>
                <a:ea typeface="Calibri" pitchFamily="34" charset="-122"/>
                <a:cs typeface="Calibri" pitchFamily="34" charset="-120"/>
              </a:rPr>
              <a:t>natalidad</a:t>
            </a:r>
            <a:r>
              <a:rPr lang="en-US" sz="1300" dirty="0">
                <a:solidFill>
                  <a:srgbClr val="1B2A4A"/>
                </a:solidFill>
                <a:latin typeface="Calibri" pitchFamily="34" charset="0"/>
                <a:ea typeface="Calibri" pitchFamily="34" charset="-122"/>
                <a:cs typeface="Calibri" pitchFamily="34" charset="-120"/>
              </a:rPr>
              <a:t> necesaria para el reemplazo generacional (2,1 hijos por mujer).</a:t>
            </a:r>
            <a:endParaRPr lang="en-US" sz="1300" dirty="0"/>
          </a:p>
          <a:p>
            <a:pPr marL="0" indent="0" algn="l">
              <a:buNone/>
            </a:pPr>
            <a:r>
              <a:rPr lang="en-US" sz="1300" dirty="0">
                <a:solidFill>
                  <a:srgbClr val="1B2A4A"/>
                </a:solidFill>
                <a:latin typeface="Calibri" pitchFamily="34" charset="0"/>
                <a:ea typeface="Calibri" pitchFamily="34" charset="-122"/>
                <a:cs typeface="Calibri" pitchFamily="34" charset="-120"/>
              </a:rPr>
              <a:t> </a:t>
            </a:r>
            <a:endParaRPr lang="en-US" sz="1300" dirty="0"/>
          </a:p>
          <a:p>
            <a:pPr marL="0" indent="0" algn="l">
              <a:buNone/>
            </a:pPr>
            <a:r>
              <a:rPr lang="en-US" sz="1300" dirty="0">
                <a:solidFill>
                  <a:srgbClr val="1B2A4A"/>
                </a:solidFill>
                <a:latin typeface="Calibri" pitchFamily="34" charset="0"/>
                <a:ea typeface="Calibri" pitchFamily="34" charset="-122"/>
                <a:cs typeface="Calibri" pitchFamily="34" charset="-120"/>
              </a:rPr>
              <a:t>Los medios predicen consecuencias económicas y sociales, pero sin precisión sobre tiempos, causas ni magnitudes.</a:t>
            </a:r>
            <a:endParaRPr lang="en-US" sz="1300" dirty="0"/>
          </a:p>
        </p:txBody>
      </p:sp>
      <p:sp>
        <p:nvSpPr>
          <p:cNvPr id="8" name="Shape 5"/>
          <p:cNvSpPr/>
          <p:nvPr/>
        </p:nvSpPr>
        <p:spPr>
          <a:xfrm>
            <a:off x="4663440" y="960120"/>
            <a:ext cx="4023360" cy="3291840"/>
          </a:xfrm>
          <a:prstGeom prst="roundRect">
            <a:avLst>
              <a:gd name="adj" fmla="val 277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pic>
        <p:nvPicPr>
          <p:cNvPr id="9" name="Image 1" descr="preencoded.png"/>
          <p:cNvPicPr>
            <a:picLocks noChangeAspect="1"/>
          </p:cNvPicPr>
          <p:nvPr/>
        </p:nvPicPr>
        <p:blipFill>
          <a:blip r:embed="rId4"/>
          <a:stretch>
            <a:fillRect/>
          </a:stretch>
        </p:blipFill>
        <p:spPr>
          <a:xfrm>
            <a:off x="5074920" y="1143000"/>
            <a:ext cx="502920" cy="502920"/>
          </a:xfrm>
          <a:prstGeom prst="rect">
            <a:avLst/>
          </a:prstGeom>
        </p:spPr>
      </p:pic>
      <p:sp>
        <p:nvSpPr>
          <p:cNvPr id="10" name="Text 6"/>
          <p:cNvSpPr/>
          <p:nvPr/>
        </p:nvSpPr>
        <p:spPr>
          <a:xfrm>
            <a:off x="5669280" y="1143000"/>
            <a:ext cx="2743200" cy="502920"/>
          </a:xfrm>
          <a:prstGeom prst="rect">
            <a:avLst/>
          </a:prstGeom>
          <a:noFill/>
          <a:ln/>
        </p:spPr>
        <p:txBody>
          <a:bodyPr wrap="square" lIns="0" tIns="0" rIns="0" bIns="0" rtlCol="0" anchor="ctr"/>
          <a:lstStyle/>
          <a:p>
            <a:pPr marL="0" indent="0" algn="l">
              <a:buNone/>
            </a:pPr>
            <a:r>
              <a:rPr lang="en-US" sz="1500" b="1" dirty="0">
                <a:solidFill>
                  <a:srgbClr val="1B2A4A"/>
                </a:solidFill>
                <a:latin typeface="Calibri" pitchFamily="34" charset="0"/>
                <a:ea typeface="Calibri" pitchFamily="34" charset="-122"/>
                <a:cs typeface="Calibri" pitchFamily="34" charset="-120"/>
              </a:rPr>
              <a:t>Este trabajo responde</a:t>
            </a:r>
            <a:endParaRPr lang="en-US" sz="1500" dirty="0"/>
          </a:p>
        </p:txBody>
      </p:sp>
      <p:sp>
        <p:nvSpPr>
          <p:cNvPr id="11" name="Text 7"/>
          <p:cNvSpPr/>
          <p:nvPr/>
        </p:nvSpPr>
        <p:spPr>
          <a:xfrm>
            <a:off x="4846320" y="1755648"/>
            <a:ext cx="3657600" cy="2286000"/>
          </a:xfrm>
          <a:prstGeom prst="rect">
            <a:avLst/>
          </a:prstGeom>
          <a:noFill/>
          <a:ln/>
        </p:spPr>
        <p:txBody>
          <a:bodyPr wrap="square" lIns="63500" tIns="63500" rIns="63500" bIns="63500" rtlCol="0" anchor="t"/>
          <a:lstStyle/>
          <a:p>
            <a:pPr marL="342900" indent="-342900" algn="l">
              <a:buSzPct val="100000"/>
              <a:buChar char="•"/>
            </a:pPr>
            <a:r>
              <a:rPr lang="en-US" sz="1300" dirty="0">
                <a:solidFill>
                  <a:srgbClr val="1B2A4A"/>
                </a:solidFill>
                <a:latin typeface="Calibri" pitchFamily="34" charset="0"/>
                <a:ea typeface="Calibri" pitchFamily="34" charset="-122"/>
                <a:cs typeface="Calibri" pitchFamily="34" charset="-120"/>
              </a:rPr>
              <a:t>¿Qué variables son fundamentales para la dinámica poblacional de Argentina?</a:t>
            </a:r>
            <a:endParaRPr lang="en-US" sz="1300" dirty="0"/>
          </a:p>
          <a:p>
            <a:pPr marL="342900" indent="-342900" algn="l">
              <a:buSzPct val="100000"/>
              <a:buChar char="•"/>
            </a:pPr>
            <a:r>
              <a:rPr lang="en-US" sz="1300" dirty="0">
                <a:solidFill>
                  <a:srgbClr val="1B2A4A"/>
                </a:solidFill>
                <a:latin typeface="Calibri" pitchFamily="34" charset="0"/>
                <a:ea typeface="Calibri" pitchFamily="34" charset="-122"/>
                <a:cs typeface="Calibri" pitchFamily="34" charset="-120"/>
              </a:rPr>
              <a:t>¿Dónde estamos parados hoy?</a:t>
            </a:r>
            <a:endParaRPr lang="en-US" sz="1300" dirty="0"/>
          </a:p>
          <a:p>
            <a:pPr marL="342900" indent="-342900" algn="l">
              <a:buSzPct val="100000"/>
              <a:buChar char="•"/>
            </a:pPr>
            <a:r>
              <a:rPr lang="en-US" sz="1300" dirty="0">
                <a:solidFill>
                  <a:srgbClr val="1B2A4A"/>
                </a:solidFill>
                <a:latin typeface="Calibri" pitchFamily="34" charset="0"/>
                <a:ea typeface="Calibri" pitchFamily="34" charset="-122"/>
                <a:cs typeface="Calibri" pitchFamily="34" charset="-120"/>
              </a:rPr>
              <a:t>¿Hacia dónde vamos al 2050?</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Datos y Métricas Utilizadas</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3017520"/>
        </p:xfrm>
        <a:graphic>
          <a:graphicData uri="http://schemas.openxmlformats.org/drawingml/2006/table">
            <a:tbl>
              <a:tblPr/>
              <a:tblGrid>
                <a:gridCol w="25603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50292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Métrica</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Fórmula</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Interpretación</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02920">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TBN — Tasa Bruta de Natalidad</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(nacimientos / P) × 1000</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Nacidos vivos por cada 1.000 hab.</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TBM — Tasa Bruta de Mortalidad</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(defunciones / P) × 1000</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Defunciones por cada 1.000 hab.</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Crecimiento Vegetativo</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nacimientos − defunciones</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Saldo natural absoluto</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Tasa Crec. Vegetativo</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TBN − TBM</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Saldo natural por 1.000 hab.</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TGF — Tasa Global de Fecundidad</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(precalculada)</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Hijos esperados por mujer en edad fértil</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365760" y="960120"/>
            <a:ext cx="8412480" cy="548640"/>
          </a:xfrm>
          <a:prstGeom prst="rect">
            <a:avLst/>
          </a:prstGeom>
          <a:solidFill>
            <a:srgbClr val="1B2A4A"/>
          </a:solidFill>
          <a:ln w="12700">
            <a:solidFill>
              <a:srgbClr val="1B2A4A"/>
            </a:solidFill>
            <a:prstDash val="solid"/>
          </a:ln>
        </p:spPr>
        <p:txBody>
          <a:bodyPr/>
          <a:lstStyle/>
          <a:p>
            <a:endParaRPr lang="es-AR"/>
          </a:p>
        </p:txBody>
      </p:sp>
      <p:sp>
        <p:nvSpPr>
          <p:cNvPr id="6" name="Text 3"/>
          <p:cNvSpPr/>
          <p:nvPr/>
        </p:nvSpPr>
        <p:spPr>
          <a:xfrm>
            <a:off x="457200" y="1005840"/>
            <a:ext cx="2468880" cy="438912"/>
          </a:xfrm>
          <a:prstGeom prst="rect">
            <a:avLst/>
          </a:prstGeom>
          <a:noFill/>
          <a:ln/>
        </p:spPr>
        <p:txBody>
          <a:bodyPr wrap="square" lIns="63500" tIns="63500" rIns="63500" bIns="63500" rtlCol="0" anchor="ctr"/>
          <a:lstStyle/>
          <a:p>
            <a:pPr marL="0" indent="0" algn="l">
              <a:buNone/>
            </a:pPr>
            <a:r>
              <a:rPr lang="en-US" sz="1300" b="1" dirty="0">
                <a:solidFill>
                  <a:srgbClr val="FFFFFF"/>
                </a:solidFill>
                <a:latin typeface="Calibri" pitchFamily="34" charset="0"/>
                <a:ea typeface="Calibri" pitchFamily="34" charset="-122"/>
                <a:cs typeface="Calibri" pitchFamily="34" charset="-120"/>
              </a:rPr>
              <a:t>Métrica</a:t>
            </a:r>
            <a:endParaRPr lang="en-US" sz="1300" dirty="0"/>
          </a:p>
        </p:txBody>
      </p:sp>
      <p:sp>
        <p:nvSpPr>
          <p:cNvPr id="7" name="Text 4"/>
          <p:cNvSpPr/>
          <p:nvPr/>
        </p:nvSpPr>
        <p:spPr>
          <a:xfrm>
            <a:off x="3017520" y="1005840"/>
            <a:ext cx="2468880" cy="438912"/>
          </a:xfrm>
          <a:prstGeom prst="rect">
            <a:avLst/>
          </a:prstGeom>
          <a:noFill/>
          <a:ln/>
        </p:spPr>
        <p:txBody>
          <a:bodyPr wrap="square" lIns="63500" tIns="63500" rIns="63500" bIns="63500" rtlCol="0" anchor="ctr"/>
          <a:lstStyle/>
          <a:p>
            <a:pPr marL="0" indent="0" algn="l">
              <a:buNone/>
            </a:pPr>
            <a:r>
              <a:rPr lang="en-US" sz="1300" b="1" dirty="0">
                <a:solidFill>
                  <a:srgbClr val="FFFFFF"/>
                </a:solidFill>
                <a:latin typeface="Calibri" pitchFamily="34" charset="0"/>
                <a:ea typeface="Calibri" pitchFamily="34" charset="-122"/>
                <a:cs typeface="Calibri" pitchFamily="34" charset="-120"/>
              </a:rPr>
              <a:t>Fórmula</a:t>
            </a:r>
            <a:endParaRPr lang="en-US" sz="1300" dirty="0"/>
          </a:p>
        </p:txBody>
      </p:sp>
      <p:sp>
        <p:nvSpPr>
          <p:cNvPr id="8" name="Text 5"/>
          <p:cNvSpPr/>
          <p:nvPr/>
        </p:nvSpPr>
        <p:spPr>
          <a:xfrm>
            <a:off x="5577840" y="1005840"/>
            <a:ext cx="3108960" cy="438912"/>
          </a:xfrm>
          <a:prstGeom prst="rect">
            <a:avLst/>
          </a:prstGeom>
          <a:noFill/>
          <a:ln/>
        </p:spPr>
        <p:txBody>
          <a:bodyPr wrap="square" lIns="63500" tIns="63500" rIns="63500" bIns="63500" rtlCol="0" anchor="ctr"/>
          <a:lstStyle/>
          <a:p>
            <a:pPr marL="0" indent="0" algn="l">
              <a:buNone/>
            </a:pPr>
            <a:r>
              <a:rPr lang="en-US" sz="1300" b="1" dirty="0">
                <a:solidFill>
                  <a:srgbClr val="FFFFFF"/>
                </a:solidFill>
                <a:latin typeface="Calibri" pitchFamily="34" charset="0"/>
                <a:ea typeface="Calibri" pitchFamily="34" charset="-122"/>
                <a:cs typeface="Calibri" pitchFamily="34" charset="-120"/>
              </a:rPr>
              <a:t>Interpretación</a:t>
            </a:r>
            <a:endParaRPr lang="en-US" sz="1300" dirty="0"/>
          </a:p>
        </p:txBody>
      </p:sp>
      <p:sp>
        <p:nvSpPr>
          <p:cNvPr id="9" name="Text 6"/>
          <p:cNvSpPr/>
          <p:nvPr/>
        </p:nvSpPr>
        <p:spPr>
          <a:xfrm>
            <a:off x="365760" y="4663440"/>
            <a:ext cx="8412480" cy="274320"/>
          </a:xfrm>
          <a:prstGeom prst="rect">
            <a:avLst/>
          </a:prstGeom>
          <a:noFill/>
          <a:ln/>
        </p:spPr>
        <p:txBody>
          <a:bodyPr wrap="square" lIns="0" tIns="0" rIns="0" bIns="0" rtlCol="0" anchor="ctr"/>
          <a:lstStyle/>
          <a:p>
            <a:pPr marL="0" indent="0" algn="l">
              <a:buNone/>
            </a:pPr>
            <a:r>
              <a:rPr lang="en-US" sz="1000" i="1" dirty="0">
                <a:solidFill>
                  <a:srgbClr val="64748B"/>
                </a:solidFill>
                <a:latin typeface="Calibri" pitchFamily="34" charset="0"/>
                <a:ea typeface="Calibri" pitchFamily="34" charset="-122"/>
                <a:cs typeface="Calibri" pitchFamily="34" charset="-120"/>
              </a:rPr>
              <a:t>Fuente: INDEC · RENAPER · CEPALSTAT (2012–2022)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Natalidad y Mortalidad — La tijera que se cierra</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graphicFrame>
        <p:nvGraphicFramePr>
          <p:cNvPr id="4" name="Chart 0"/>
          <p:cNvGraphicFramePr/>
          <p:nvPr/>
        </p:nvGraphicFramePr>
        <p:xfrm>
          <a:off x="365760" y="914400"/>
          <a:ext cx="56692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217920" y="914400"/>
            <a:ext cx="2560320" cy="3931920"/>
          </a:xfrm>
          <a:prstGeom prst="roundRect">
            <a:avLst>
              <a:gd name="adj" fmla="val 3571"/>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6" name="Text 3"/>
          <p:cNvSpPr/>
          <p:nvPr/>
        </p:nvSpPr>
        <p:spPr>
          <a:xfrm>
            <a:off x="6355080" y="1051560"/>
            <a:ext cx="2286000" cy="411480"/>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Hallazgos clave</a:t>
            </a:r>
            <a:endParaRPr lang="en-US" sz="1300" dirty="0"/>
          </a:p>
        </p:txBody>
      </p:sp>
      <p:sp>
        <p:nvSpPr>
          <p:cNvPr id="7" name="Text 4"/>
          <p:cNvSpPr/>
          <p:nvPr/>
        </p:nvSpPr>
        <p:spPr>
          <a:xfrm>
            <a:off x="6355080" y="1600200"/>
            <a:ext cx="2286000" cy="438912"/>
          </a:xfrm>
          <a:prstGeom prst="rect">
            <a:avLst/>
          </a:prstGeom>
          <a:noFill/>
          <a:ln/>
        </p:spPr>
        <p:txBody>
          <a:bodyPr wrap="square" lIns="0" tIns="0" rIns="0" bIns="0" rtlCol="0" anchor="ctr"/>
          <a:lstStyle/>
          <a:p>
            <a:pPr marL="0" indent="0" algn="l">
              <a:buNone/>
            </a:pPr>
            <a:r>
              <a:rPr lang="en-US" sz="2600" b="1" dirty="0">
                <a:solidFill>
                  <a:srgbClr val="D95F3B"/>
                </a:solidFill>
                <a:latin typeface="Calibri" pitchFamily="34" charset="0"/>
                <a:ea typeface="Calibri" pitchFamily="34" charset="-122"/>
                <a:cs typeface="Calibri" pitchFamily="34" charset="-120"/>
              </a:rPr>
              <a:t>−44%</a:t>
            </a:r>
            <a:endParaRPr lang="en-US" sz="2600" dirty="0"/>
          </a:p>
        </p:txBody>
      </p:sp>
      <p:sp>
        <p:nvSpPr>
          <p:cNvPr id="8" name="Text 5"/>
          <p:cNvSpPr/>
          <p:nvPr/>
        </p:nvSpPr>
        <p:spPr>
          <a:xfrm>
            <a:off x="6355080" y="2002536"/>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caída de TBN</a:t>
            </a:r>
            <a:endParaRPr lang="en-US" sz="1100" dirty="0"/>
          </a:p>
          <a:p>
            <a:pPr marL="0" indent="0" algn="l">
              <a:buNone/>
            </a:pPr>
            <a:r>
              <a:rPr lang="en-US" sz="1100" dirty="0">
                <a:solidFill>
                  <a:srgbClr val="64748B"/>
                </a:solidFill>
                <a:latin typeface="Calibri" pitchFamily="34" charset="0"/>
                <a:ea typeface="Calibri" pitchFamily="34" charset="-122"/>
                <a:cs typeface="Calibri" pitchFamily="34" charset="-120"/>
              </a:rPr>
              <a:t>2012 → 2022</a:t>
            </a:r>
            <a:endParaRPr lang="en-US" sz="1100" dirty="0"/>
          </a:p>
        </p:txBody>
      </p:sp>
      <p:sp>
        <p:nvSpPr>
          <p:cNvPr id="9" name="Text 6"/>
          <p:cNvSpPr/>
          <p:nvPr/>
        </p:nvSpPr>
        <p:spPr>
          <a:xfrm>
            <a:off x="6355080" y="2651760"/>
            <a:ext cx="2286000" cy="438912"/>
          </a:xfrm>
          <a:prstGeom prst="rect">
            <a:avLst/>
          </a:prstGeom>
          <a:noFill/>
          <a:ln/>
        </p:spPr>
        <p:txBody>
          <a:bodyPr wrap="square" lIns="0" tIns="0" rIns="0" bIns="0" rtlCol="0" anchor="ctr"/>
          <a:lstStyle/>
          <a:p>
            <a:pPr marL="0" indent="0" algn="l">
              <a:buNone/>
            </a:pPr>
            <a:r>
              <a:rPr lang="en-US" sz="2600" b="1" dirty="0">
                <a:solidFill>
                  <a:srgbClr val="1D7A8C"/>
                </a:solidFill>
                <a:latin typeface="Calibri" pitchFamily="34" charset="0"/>
                <a:ea typeface="Calibri" pitchFamily="34" charset="-122"/>
                <a:cs typeface="Calibri" pitchFamily="34" charset="-120"/>
              </a:rPr>
              <a:t>2019</a:t>
            </a:r>
            <a:endParaRPr lang="en-US" sz="2600" dirty="0"/>
          </a:p>
        </p:txBody>
      </p:sp>
      <p:sp>
        <p:nvSpPr>
          <p:cNvPr id="10" name="Text 7"/>
          <p:cNvSpPr/>
          <p:nvPr/>
        </p:nvSpPr>
        <p:spPr>
          <a:xfrm>
            <a:off x="6355080" y="3054096"/>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Argentina cruza</a:t>
            </a:r>
            <a:endParaRPr lang="en-US" sz="1100" dirty="0"/>
          </a:p>
          <a:p>
            <a:pPr marL="0" indent="0" algn="l">
              <a:buNone/>
            </a:pPr>
            <a:r>
              <a:rPr lang="en-US" sz="1100" dirty="0">
                <a:solidFill>
                  <a:srgbClr val="64748B"/>
                </a:solidFill>
                <a:latin typeface="Calibri" pitchFamily="34" charset="0"/>
                <a:ea typeface="Calibri" pitchFamily="34" charset="-122"/>
                <a:cs typeface="Calibri" pitchFamily="34" charset="-120"/>
              </a:rPr>
              <a:t>el sub-reemplazo</a:t>
            </a:r>
            <a:endParaRPr lang="en-US" sz="1100" dirty="0"/>
          </a:p>
        </p:txBody>
      </p:sp>
      <p:sp>
        <p:nvSpPr>
          <p:cNvPr id="11" name="Text 8"/>
          <p:cNvSpPr/>
          <p:nvPr/>
        </p:nvSpPr>
        <p:spPr>
          <a:xfrm>
            <a:off x="6355080" y="3703320"/>
            <a:ext cx="2286000" cy="438912"/>
          </a:xfrm>
          <a:prstGeom prst="rect">
            <a:avLst/>
          </a:prstGeom>
          <a:noFill/>
          <a:ln/>
        </p:spPr>
        <p:txBody>
          <a:bodyPr wrap="square" lIns="0" tIns="0" rIns="0" bIns="0" rtlCol="0" anchor="ctr"/>
          <a:lstStyle/>
          <a:p>
            <a:pPr marL="0" indent="0" algn="l">
              <a:buNone/>
            </a:pPr>
            <a:r>
              <a:rPr lang="en-US" sz="2600" b="1" dirty="0">
                <a:solidFill>
                  <a:srgbClr val="E8A838"/>
                </a:solidFill>
                <a:latin typeface="Calibri" pitchFamily="34" charset="0"/>
                <a:ea typeface="Calibri" pitchFamily="34" charset="-122"/>
                <a:cs typeface="Calibri" pitchFamily="34" charset="-120"/>
              </a:rPr>
              <a:t>~1,5‰</a:t>
            </a:r>
            <a:endParaRPr lang="en-US" sz="2600" dirty="0"/>
          </a:p>
        </p:txBody>
      </p:sp>
      <p:sp>
        <p:nvSpPr>
          <p:cNvPr id="12" name="Text 9"/>
          <p:cNvSpPr/>
          <p:nvPr/>
        </p:nvSpPr>
        <p:spPr>
          <a:xfrm>
            <a:off x="6355080" y="4105656"/>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brecha restante</a:t>
            </a:r>
            <a:endParaRPr lang="en-US" sz="1100" dirty="0"/>
          </a:p>
          <a:p>
            <a:pPr marL="0" indent="0" algn="l">
              <a:buNone/>
            </a:pPr>
            <a:r>
              <a:rPr lang="en-US" sz="1100" dirty="0">
                <a:solidFill>
                  <a:srgbClr val="64748B"/>
                </a:solidFill>
                <a:latin typeface="Calibri" pitchFamily="34" charset="0"/>
                <a:ea typeface="Calibri" pitchFamily="34" charset="-122"/>
                <a:cs typeface="Calibri" pitchFamily="34" charset="-120"/>
              </a:rPr>
              <a:t>en 2022</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Tasa de Fecundidad — Argentina en sub-reemplazo</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graphicFrame>
        <p:nvGraphicFramePr>
          <p:cNvPr id="4" name="Chart 0"/>
          <p:cNvGraphicFramePr/>
          <p:nvPr/>
        </p:nvGraphicFramePr>
        <p:xfrm>
          <a:off x="365760" y="914400"/>
          <a:ext cx="594360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492240" y="914400"/>
            <a:ext cx="2286000" cy="3931920"/>
          </a:xfrm>
          <a:prstGeom prst="roundRect">
            <a:avLst>
              <a:gd name="adj" fmla="val 4000"/>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6" name="Text 3"/>
          <p:cNvSpPr/>
          <p:nvPr/>
        </p:nvSpPr>
        <p:spPr>
          <a:xfrm>
            <a:off x="6629400" y="1024128"/>
            <a:ext cx="1965960" cy="658368"/>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¿Qué es el</a:t>
            </a:r>
            <a:endParaRPr lang="en-US" sz="1300" dirty="0"/>
          </a:p>
          <a:p>
            <a:pPr marL="0" indent="0" algn="l">
              <a:buNone/>
            </a:pPr>
            <a:r>
              <a:rPr lang="en-US" sz="1300" b="1" dirty="0">
                <a:solidFill>
                  <a:srgbClr val="1B2A4A"/>
                </a:solidFill>
                <a:latin typeface="Calibri" pitchFamily="34" charset="0"/>
                <a:ea typeface="Calibri" pitchFamily="34" charset="-122"/>
                <a:cs typeface="Calibri" pitchFamily="34" charset="-120"/>
              </a:rPr>
              <a:t>sub-reemplazo?</a:t>
            </a:r>
            <a:endParaRPr lang="en-US" sz="1300" dirty="0"/>
          </a:p>
        </p:txBody>
      </p:sp>
      <p:sp>
        <p:nvSpPr>
          <p:cNvPr id="7" name="Text 4"/>
          <p:cNvSpPr/>
          <p:nvPr/>
        </p:nvSpPr>
        <p:spPr>
          <a:xfrm>
            <a:off x="6629400" y="1737360"/>
            <a:ext cx="2011680" cy="1005840"/>
          </a:xfrm>
          <a:prstGeom prst="rect">
            <a:avLst/>
          </a:prstGeom>
          <a:noFill/>
          <a:ln/>
        </p:spPr>
        <p:txBody>
          <a:bodyPr wrap="square" lIns="0" tIns="0" rIns="0" bIns="0" rtlCol="0" anchor="ctr"/>
          <a:lstStyle/>
          <a:p>
            <a:pPr marL="0" indent="0" algn="l">
              <a:buNone/>
            </a:pPr>
            <a:r>
              <a:rPr lang="en-US" sz="1100" dirty="0">
                <a:solidFill>
                  <a:srgbClr val="1B2A4A"/>
                </a:solidFill>
                <a:latin typeface="Calibri" pitchFamily="34" charset="0"/>
                <a:ea typeface="Calibri" pitchFamily="34" charset="-122"/>
                <a:cs typeface="Calibri" pitchFamily="34" charset="-120"/>
              </a:rPr>
              <a:t>Cuando la TGF cae por debajo de 2,1, cada generación no se reemplaza completamente a sí misma.</a:t>
            </a:r>
            <a:endParaRPr lang="en-US" sz="1100" dirty="0"/>
          </a:p>
        </p:txBody>
      </p:sp>
      <p:sp>
        <p:nvSpPr>
          <p:cNvPr id="8" name="Shape 5"/>
          <p:cNvSpPr/>
          <p:nvPr/>
        </p:nvSpPr>
        <p:spPr>
          <a:xfrm>
            <a:off x="6629400" y="2834640"/>
            <a:ext cx="2011680" cy="18288"/>
          </a:xfrm>
          <a:prstGeom prst="rect">
            <a:avLst/>
          </a:prstGeom>
          <a:solidFill>
            <a:srgbClr val="1D7A8C"/>
          </a:solidFill>
          <a:ln w="12700">
            <a:solidFill>
              <a:srgbClr val="1D7A8C"/>
            </a:solidFill>
            <a:prstDash val="solid"/>
          </a:ln>
        </p:spPr>
        <p:txBody>
          <a:bodyPr/>
          <a:lstStyle/>
          <a:p>
            <a:endParaRPr lang="es-AR"/>
          </a:p>
        </p:txBody>
      </p:sp>
      <p:sp>
        <p:nvSpPr>
          <p:cNvPr id="9" name="Text 6"/>
          <p:cNvSpPr/>
          <p:nvPr/>
        </p:nvSpPr>
        <p:spPr>
          <a:xfrm>
            <a:off x="6629400" y="2926080"/>
            <a:ext cx="2011680" cy="1554480"/>
          </a:xfrm>
          <a:prstGeom prst="rect">
            <a:avLst/>
          </a:prstGeom>
          <a:noFill/>
          <a:ln/>
        </p:spPr>
        <p:txBody>
          <a:bodyPr wrap="square" lIns="0" tIns="0" rIns="0" bIns="0" rtlCol="0" anchor="ctr"/>
          <a:lstStyle/>
          <a:p>
            <a:pPr marL="0" indent="0" algn="l">
              <a:buNone/>
            </a:pPr>
            <a:r>
              <a:rPr lang="en-US" sz="1100" dirty="0">
                <a:solidFill>
                  <a:srgbClr val="1B2A4A"/>
                </a:solidFill>
                <a:latin typeface="Calibri" pitchFamily="34" charset="0"/>
                <a:ea typeface="Calibri" pitchFamily="34" charset="-122"/>
                <a:cs typeface="Calibri" pitchFamily="34" charset="-120"/>
              </a:rPr>
              <a:t>Argentina cruzó ese umbral en 2019 y lleva 7 años en sub-reemplazo, sin señales de reversión.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Crecimiento Vegetativo — Caída estructural</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graphicFrame>
        <p:nvGraphicFramePr>
          <p:cNvPr id="4" name="Chart 0"/>
          <p:cNvGraphicFramePr/>
          <p:nvPr/>
        </p:nvGraphicFramePr>
        <p:xfrm>
          <a:off x="365760" y="914400"/>
          <a:ext cx="841248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365760" y="4617720"/>
            <a:ext cx="841248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 85% en 10 años  ·  COVID acelera pero no causa la caída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Tasa de Migración Neta — Un parámetro estable</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graphicFrame>
        <p:nvGraphicFramePr>
          <p:cNvPr id="4" name="Chart 0"/>
          <p:cNvGraphicFramePr/>
          <p:nvPr/>
        </p:nvGraphicFramePr>
        <p:xfrm>
          <a:off x="365760" y="914400"/>
          <a:ext cx="566928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217920" y="914400"/>
            <a:ext cx="2560320" cy="1691640"/>
          </a:xfrm>
          <a:prstGeom prst="roundRect">
            <a:avLst>
              <a:gd name="adj" fmla="val 5405"/>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6" name="Text 3"/>
          <p:cNvSpPr/>
          <p:nvPr/>
        </p:nvSpPr>
        <p:spPr>
          <a:xfrm>
            <a:off x="6355080" y="1005840"/>
            <a:ext cx="2286000" cy="502920"/>
          </a:xfrm>
          <a:prstGeom prst="rect">
            <a:avLst/>
          </a:prstGeom>
          <a:noFill/>
          <a:ln/>
        </p:spPr>
        <p:txBody>
          <a:bodyPr wrap="square" lIns="0" tIns="0" rIns="0" bIns="0" rtlCol="0" anchor="ctr"/>
          <a:lstStyle/>
          <a:p>
            <a:pPr marL="0" indent="0" algn="l">
              <a:buNone/>
            </a:pPr>
            <a:r>
              <a:rPr lang="en-US" sz="2000" b="1" dirty="0">
                <a:solidFill>
                  <a:srgbClr val="1D7A8C"/>
                </a:solidFill>
                <a:latin typeface="Calibri" pitchFamily="34" charset="0"/>
                <a:ea typeface="Calibri" pitchFamily="34" charset="-122"/>
                <a:cs typeface="Calibri" pitchFamily="34" charset="-120"/>
              </a:rPr>
              <a:t>50–100× menor</a:t>
            </a:r>
            <a:endParaRPr lang="en-US" sz="2000" dirty="0"/>
          </a:p>
        </p:txBody>
      </p:sp>
      <p:sp>
        <p:nvSpPr>
          <p:cNvPr id="7" name="Text 4"/>
          <p:cNvSpPr/>
          <p:nvPr/>
        </p:nvSpPr>
        <p:spPr>
          <a:xfrm>
            <a:off x="6355080" y="1481328"/>
            <a:ext cx="2286000" cy="594360"/>
          </a:xfrm>
          <a:prstGeom prst="rect">
            <a:avLst/>
          </a:prstGeom>
          <a:noFill/>
          <a:ln/>
        </p:spPr>
        <p:txBody>
          <a:bodyPr wrap="square" lIns="0" tIns="0" rIns="0" bIns="0" rtlCol="0" anchor="ctr"/>
          <a:lstStyle/>
          <a:p>
            <a:pPr marL="0" indent="0" algn="l">
              <a:buNone/>
            </a:pPr>
            <a:r>
              <a:rPr lang="en-US" sz="1100" dirty="0">
                <a:solidFill>
                  <a:srgbClr val="1B2A4A"/>
                </a:solidFill>
                <a:latin typeface="Calibri" pitchFamily="34" charset="0"/>
                <a:ea typeface="Calibri" pitchFamily="34" charset="-122"/>
                <a:cs typeface="Calibri" pitchFamily="34" charset="-120"/>
              </a:rPr>
              <a:t>que TBN y TBM</a:t>
            </a:r>
            <a:endParaRPr lang="en-US" sz="1100" dirty="0"/>
          </a:p>
          <a:p>
            <a:pPr marL="0" indent="0" algn="l">
              <a:buNone/>
            </a:pPr>
            <a:r>
              <a:rPr lang="en-US" sz="1100" dirty="0">
                <a:solidFill>
                  <a:srgbClr val="1B2A4A"/>
                </a:solidFill>
                <a:latin typeface="Calibri" pitchFamily="34" charset="0"/>
                <a:ea typeface="Calibri" pitchFamily="34" charset="-122"/>
                <a:cs typeface="Calibri" pitchFamily="34" charset="-120"/>
              </a:rPr>
              <a:t>→ peso estructural mínimo</a:t>
            </a:r>
            <a:endParaRPr lang="en-US" sz="1100" dirty="0"/>
          </a:p>
        </p:txBody>
      </p:sp>
      <p:sp>
        <p:nvSpPr>
          <p:cNvPr id="8" name="Shape 5"/>
          <p:cNvSpPr/>
          <p:nvPr/>
        </p:nvSpPr>
        <p:spPr>
          <a:xfrm>
            <a:off x="6217920" y="2788920"/>
            <a:ext cx="2560320" cy="1783080"/>
          </a:xfrm>
          <a:prstGeom prst="roundRect">
            <a:avLst>
              <a:gd name="adj" fmla="val 512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9" name="Text 6"/>
          <p:cNvSpPr/>
          <p:nvPr/>
        </p:nvSpPr>
        <p:spPr>
          <a:xfrm>
            <a:off x="6355080" y="2880360"/>
            <a:ext cx="2286000" cy="438912"/>
          </a:xfrm>
          <a:prstGeom prst="rect">
            <a:avLst/>
          </a:prstGeom>
          <a:noFill/>
          <a:ln/>
        </p:spPr>
        <p:txBody>
          <a:bodyPr wrap="square" lIns="0" tIns="0" rIns="0" bIns="0" rtlCol="0" anchor="ctr"/>
          <a:lstStyle/>
          <a:p>
            <a:pPr marL="0" indent="0" algn="l">
              <a:buNone/>
            </a:pPr>
            <a:r>
              <a:rPr lang="en-US" sz="1400" b="1" dirty="0">
                <a:solidFill>
                  <a:srgbClr val="D95F3B"/>
                </a:solidFill>
                <a:latin typeface="Calibri" pitchFamily="34" charset="0"/>
                <a:ea typeface="Calibri" pitchFamily="34" charset="-122"/>
                <a:cs typeface="Calibri" pitchFamily="34" charset="-120"/>
              </a:rPr>
              <a:t>Colapso 2020-21</a:t>
            </a:r>
            <a:endParaRPr lang="en-US" sz="1400" dirty="0"/>
          </a:p>
        </p:txBody>
      </p:sp>
      <p:sp>
        <p:nvSpPr>
          <p:cNvPr id="10" name="Text 7"/>
          <p:cNvSpPr/>
          <p:nvPr/>
        </p:nvSpPr>
        <p:spPr>
          <a:xfrm>
            <a:off x="6355080" y="3337560"/>
            <a:ext cx="2286000" cy="1097280"/>
          </a:xfrm>
          <a:prstGeom prst="rect">
            <a:avLst/>
          </a:prstGeom>
          <a:noFill/>
          <a:ln/>
        </p:spPr>
        <p:txBody>
          <a:bodyPr wrap="square" lIns="0" tIns="0" rIns="0" bIns="0" rtlCol="0" anchor="ctr"/>
          <a:lstStyle/>
          <a:p>
            <a:pPr marL="0" indent="0" algn="l">
              <a:buNone/>
            </a:pPr>
            <a:r>
              <a:rPr lang="en-US" sz="1100" dirty="0">
                <a:solidFill>
                  <a:srgbClr val="1B2A4A"/>
                </a:solidFill>
                <a:latin typeface="Calibri" pitchFamily="34" charset="0"/>
                <a:ea typeface="Calibri" pitchFamily="34" charset="-122"/>
                <a:cs typeface="Calibri" pitchFamily="34" charset="-120"/>
              </a:rPr>
              <a:t>Por cierre de fronteras COVID. Rebota en 2022 a niveles históricos → evento puntual, no tendencia.</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¿Por qué Malthus, ODE y luego UDE?</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sp>
        <p:nvSpPr>
          <p:cNvPr id="37" name="CuadroTexto 36">
            <a:extLst>
              <a:ext uri="{FF2B5EF4-FFF2-40B4-BE49-F238E27FC236}">
                <a16:creationId xmlns:a16="http://schemas.microsoft.com/office/drawing/2014/main" id="{91FEC439-8D74-6341-7EDE-C5296F1B0F2E}"/>
              </a:ext>
            </a:extLst>
          </p:cNvPr>
          <p:cNvSpPr txBox="1"/>
          <p:nvPr/>
        </p:nvSpPr>
        <p:spPr>
          <a:xfrm>
            <a:off x="942975" y="897826"/>
            <a:ext cx="6915150" cy="1015663"/>
          </a:xfrm>
          <a:prstGeom prst="rect">
            <a:avLst/>
          </a:prstGeom>
          <a:noFill/>
        </p:spPr>
        <p:txBody>
          <a:bodyPr wrap="square">
            <a:spAutoFit/>
          </a:bodyPr>
          <a:lstStyle/>
          <a:p>
            <a:pPr rtl="0">
              <a:buNone/>
            </a:pPr>
            <a:r>
              <a:rPr lang="es-AR" sz="1200" b="0" i="0" u="none" strike="noStrike" dirty="0">
                <a:solidFill>
                  <a:srgbClr val="475569"/>
                </a:solidFill>
                <a:effectLst/>
                <a:latin typeface="Lato" panose="020F0502020204030203" pitchFamily="34" charset="0"/>
              </a:rPr>
              <a:t>Para modelar la población de una nación, la estructura del modelo debe reflejar la lógica del sistema. Aquí el porqué de nuestra transición metodológica:</a:t>
            </a:r>
            <a:endParaRPr lang="es-AR" sz="1200" b="0" dirty="0">
              <a:effectLst/>
            </a:endParaRPr>
          </a:p>
          <a:p>
            <a:pPr>
              <a:buNone/>
            </a:pPr>
            <a:br>
              <a:rPr lang="es-AR" dirty="0"/>
            </a:br>
            <a:endParaRPr lang="es-AR" dirty="0"/>
          </a:p>
        </p:txBody>
      </p:sp>
      <p:pic>
        <p:nvPicPr>
          <p:cNvPr id="38" name="Imagen 37" descr="image.png">
            <a:extLst>
              <a:ext uri="{FF2B5EF4-FFF2-40B4-BE49-F238E27FC236}">
                <a16:creationId xmlns:a16="http://schemas.microsoft.com/office/drawing/2014/main" id="{4D8AA6F1-0074-DADA-1C7D-52DEB658E440}"/>
              </a:ext>
            </a:extLst>
          </p:cNvPr>
          <p:cNvPicPr>
            <a:picLocks noChangeAspect="1"/>
          </p:cNvPicPr>
          <p:nvPr/>
        </p:nvPicPr>
        <p:blipFill>
          <a:blip r:embed="rId3"/>
          <a:stretch>
            <a:fillRect/>
          </a:stretch>
        </p:blipFill>
        <p:spPr>
          <a:xfrm>
            <a:off x="457200" y="1500443"/>
            <a:ext cx="2400299" cy="3478465"/>
          </a:xfrm>
          <a:prstGeom prst="rect">
            <a:avLst/>
          </a:prstGeom>
        </p:spPr>
      </p:pic>
      <p:sp>
        <p:nvSpPr>
          <p:cNvPr id="44" name="CuadroTexto 43">
            <a:extLst>
              <a:ext uri="{FF2B5EF4-FFF2-40B4-BE49-F238E27FC236}">
                <a16:creationId xmlns:a16="http://schemas.microsoft.com/office/drawing/2014/main" id="{7FCCFC98-B478-59D4-0400-137D63CC7886}"/>
              </a:ext>
            </a:extLst>
          </p:cNvPr>
          <p:cNvSpPr txBox="1"/>
          <p:nvPr/>
        </p:nvSpPr>
        <p:spPr>
          <a:xfrm>
            <a:off x="514349" y="1588245"/>
            <a:ext cx="2286000" cy="861774"/>
          </a:xfrm>
          <a:prstGeom prst="rect">
            <a:avLst/>
          </a:prstGeom>
          <a:noFill/>
        </p:spPr>
        <p:txBody>
          <a:bodyPr wrap="square">
            <a:spAutoFit/>
          </a:bodyPr>
          <a:lstStyle/>
          <a:p>
            <a:pPr algn="ctr" rtl="0">
              <a:buNone/>
            </a:pPr>
            <a:r>
              <a:rPr lang="es-AR" sz="1400" b="1" i="0" u="none" strike="noStrike" dirty="0">
                <a:solidFill>
                  <a:srgbClr val="005088"/>
                </a:solidFill>
                <a:effectLst/>
                <a:latin typeface="Poppins" panose="00000500000000000000" pitchFamily="2" charset="0"/>
              </a:rPr>
              <a:t>1. Malthus vs. L-V</a:t>
            </a:r>
            <a:endParaRPr lang="es-AR" sz="1400" b="0" dirty="0">
              <a:effectLst/>
            </a:endParaRPr>
          </a:p>
          <a:p>
            <a:pPr>
              <a:buNone/>
            </a:pPr>
            <a:br>
              <a:rPr lang="es-AR" dirty="0"/>
            </a:br>
            <a:endParaRPr lang="es-AR" dirty="0"/>
          </a:p>
        </p:txBody>
      </p:sp>
      <p:sp>
        <p:nvSpPr>
          <p:cNvPr id="46" name="CuadroTexto 45">
            <a:extLst>
              <a:ext uri="{FF2B5EF4-FFF2-40B4-BE49-F238E27FC236}">
                <a16:creationId xmlns:a16="http://schemas.microsoft.com/office/drawing/2014/main" id="{716FAE38-6D66-1D05-16DD-51F350E71488}"/>
              </a:ext>
            </a:extLst>
          </p:cNvPr>
          <p:cNvSpPr txBox="1"/>
          <p:nvPr/>
        </p:nvSpPr>
        <p:spPr>
          <a:xfrm>
            <a:off x="685799" y="1982344"/>
            <a:ext cx="2019301" cy="2677656"/>
          </a:xfrm>
          <a:prstGeom prst="rect">
            <a:avLst/>
          </a:prstGeom>
          <a:noFill/>
        </p:spPr>
        <p:txBody>
          <a:bodyPr wrap="square">
            <a:spAutoFit/>
          </a:bodyPr>
          <a:lstStyle/>
          <a:p>
            <a:pPr rtl="0">
              <a:buNone/>
            </a:pPr>
            <a:r>
              <a:rPr lang="es-AR" sz="1200" b="1" i="0" u="none" strike="noStrike" dirty="0">
                <a:solidFill>
                  <a:srgbClr val="475569"/>
                </a:solidFill>
                <a:effectLst/>
                <a:latin typeface="Lato" panose="020F0502020204030203" pitchFamily="34" charset="0"/>
              </a:rPr>
              <a:t>Lotka-Volterra</a:t>
            </a:r>
            <a:r>
              <a:rPr lang="es-AR" sz="1200" b="0" i="0" u="none" strike="noStrike" dirty="0">
                <a:solidFill>
                  <a:srgbClr val="475569"/>
                </a:solidFill>
                <a:effectLst/>
                <a:latin typeface="Lato" panose="020F0502020204030203" pitchFamily="34" charset="0"/>
              </a:rPr>
              <a:t> requiere interacción entre </a:t>
            </a:r>
            <a:r>
              <a:rPr lang="es-AR" sz="1200" b="0" u="none" strike="noStrike" dirty="0">
                <a:solidFill>
                  <a:srgbClr val="475569"/>
                </a:solidFill>
                <a:effectLst/>
                <a:latin typeface="Lato" panose="020F0502020204030203" pitchFamily="34" charset="0"/>
              </a:rPr>
              <a:t>dos</a:t>
            </a:r>
            <a:r>
              <a:rPr lang="es-AR" sz="1200" b="0" i="0" u="none" strike="noStrike" dirty="0">
                <a:solidFill>
                  <a:srgbClr val="475569"/>
                </a:solidFill>
                <a:effectLst/>
                <a:latin typeface="Lato" panose="020F0502020204030203" pitchFamily="34" charset="0"/>
              </a:rPr>
              <a:t> poblaciones (presa-depredador). En una nación única, natalidad y mortalidad son tasas internas, no una competencia entre especies.</a:t>
            </a:r>
            <a:endParaRPr lang="es-AR" sz="1200" dirty="0">
              <a:solidFill>
                <a:srgbClr val="475569"/>
              </a:solidFill>
              <a:latin typeface="Lato" panose="020F0502020204030203" pitchFamily="34" charset="0"/>
            </a:endParaRPr>
          </a:p>
          <a:p>
            <a:pPr rtl="0">
              <a:buNone/>
            </a:pPr>
            <a:r>
              <a:rPr lang="es-AR" sz="1200" b="0" dirty="0">
                <a:solidFill>
                  <a:srgbClr val="475569"/>
                </a:solidFill>
                <a:effectLst/>
                <a:latin typeface="Lato" panose="020F0502020204030203" pitchFamily="34" charset="0"/>
              </a:rPr>
              <a:t>Usamos un </a:t>
            </a:r>
            <a:r>
              <a:rPr lang="es-AR" sz="1200" b="1" dirty="0">
                <a:solidFill>
                  <a:srgbClr val="475569"/>
                </a:solidFill>
                <a:effectLst/>
                <a:latin typeface="Lato" panose="020F0502020204030203" pitchFamily="34" charset="0"/>
              </a:rPr>
              <a:t>Malthus Generalizado:</a:t>
            </a:r>
          </a:p>
          <a:p>
            <a:pPr rtl="0">
              <a:buNone/>
            </a:pPr>
            <a:endParaRPr lang="es-AR" sz="1200" b="1" dirty="0">
              <a:effectLst/>
            </a:endParaRPr>
          </a:p>
          <a:p>
            <a:pPr>
              <a:buNone/>
            </a:pPr>
            <a:br>
              <a:rPr lang="es-AR" sz="1200" dirty="0"/>
            </a:br>
            <a:endParaRPr lang="es-AR" sz="1200" dirty="0"/>
          </a:p>
        </p:txBody>
      </p:sp>
      <p:sp>
        <p:nvSpPr>
          <p:cNvPr id="48" name="CuadroTexto 47">
            <a:extLst>
              <a:ext uri="{FF2B5EF4-FFF2-40B4-BE49-F238E27FC236}">
                <a16:creationId xmlns:a16="http://schemas.microsoft.com/office/drawing/2014/main" id="{30FFC081-D1AE-C3AF-9AEE-BC7FA6B24F97}"/>
              </a:ext>
            </a:extLst>
          </p:cNvPr>
          <p:cNvSpPr txBox="1"/>
          <p:nvPr/>
        </p:nvSpPr>
        <p:spPr>
          <a:xfrm>
            <a:off x="571499" y="4471076"/>
            <a:ext cx="2286000" cy="1015663"/>
          </a:xfrm>
          <a:prstGeom prst="rect">
            <a:avLst/>
          </a:prstGeom>
          <a:noFill/>
        </p:spPr>
        <p:txBody>
          <a:bodyPr wrap="square">
            <a:spAutoFit/>
          </a:bodyPr>
          <a:lstStyle/>
          <a:p>
            <a:pPr rtl="0">
              <a:buNone/>
            </a:pPr>
            <a:r>
              <a:rPr lang="es-AR" sz="1200" b="0" i="0" u="none" strike="noStrike" dirty="0">
                <a:solidFill>
                  <a:srgbClr val="475569"/>
                </a:solidFill>
                <a:effectLst/>
                <a:latin typeface="Lato" panose="020F0502020204030203" pitchFamily="34" charset="0"/>
              </a:rPr>
              <a:t>El crecimiento es proporcional a la población existente.</a:t>
            </a:r>
            <a:endParaRPr lang="es-AR" sz="1200" b="0" dirty="0">
              <a:effectLst/>
            </a:endParaRPr>
          </a:p>
          <a:p>
            <a:pPr>
              <a:buNone/>
            </a:pPr>
            <a:br>
              <a:rPr lang="es-AR" dirty="0"/>
            </a:br>
            <a:endParaRPr lang="es-AR" dirty="0"/>
          </a:p>
        </p:txBody>
      </p:sp>
      <p:pic>
        <p:nvPicPr>
          <p:cNvPr id="52" name="Imagen 51" descr="image.png">
            <a:extLst>
              <a:ext uri="{FF2B5EF4-FFF2-40B4-BE49-F238E27FC236}">
                <a16:creationId xmlns:a16="http://schemas.microsoft.com/office/drawing/2014/main" id="{E1814E51-BEBD-0DC5-1DFC-CFE57516230E}"/>
              </a:ext>
            </a:extLst>
          </p:cNvPr>
          <p:cNvPicPr>
            <a:picLocks noChangeAspect="1"/>
          </p:cNvPicPr>
          <p:nvPr/>
        </p:nvPicPr>
        <p:blipFill>
          <a:blip r:embed="rId4"/>
          <a:stretch>
            <a:fillRect/>
          </a:stretch>
        </p:blipFill>
        <p:spPr>
          <a:xfrm>
            <a:off x="919161" y="4149692"/>
            <a:ext cx="1476375" cy="171450"/>
          </a:xfrm>
          <a:prstGeom prst="rect">
            <a:avLst/>
          </a:prstGeom>
        </p:spPr>
      </p:pic>
      <p:pic>
        <p:nvPicPr>
          <p:cNvPr id="53" name="Imagen 52" descr="image.png">
            <a:extLst>
              <a:ext uri="{FF2B5EF4-FFF2-40B4-BE49-F238E27FC236}">
                <a16:creationId xmlns:a16="http://schemas.microsoft.com/office/drawing/2014/main" id="{66EA143B-17FC-AEA1-1FFA-AB7E4F697DC9}"/>
              </a:ext>
            </a:extLst>
          </p:cNvPr>
          <p:cNvPicPr>
            <a:picLocks noChangeAspect="1"/>
          </p:cNvPicPr>
          <p:nvPr/>
        </p:nvPicPr>
        <p:blipFill>
          <a:blip r:embed="rId3"/>
          <a:stretch>
            <a:fillRect/>
          </a:stretch>
        </p:blipFill>
        <p:spPr>
          <a:xfrm>
            <a:off x="3286126" y="1476886"/>
            <a:ext cx="2400299" cy="3478465"/>
          </a:xfrm>
          <a:prstGeom prst="rect">
            <a:avLst/>
          </a:prstGeom>
        </p:spPr>
      </p:pic>
      <p:sp>
        <p:nvSpPr>
          <p:cNvPr id="54" name="CuadroTexto 53">
            <a:extLst>
              <a:ext uri="{FF2B5EF4-FFF2-40B4-BE49-F238E27FC236}">
                <a16:creationId xmlns:a16="http://schemas.microsoft.com/office/drawing/2014/main" id="{7619E0FD-6A74-B877-70BD-F21DB614329F}"/>
              </a:ext>
            </a:extLst>
          </p:cNvPr>
          <p:cNvSpPr txBox="1"/>
          <p:nvPr/>
        </p:nvSpPr>
        <p:spPr>
          <a:xfrm>
            <a:off x="3343275" y="1564688"/>
            <a:ext cx="2286000" cy="861774"/>
          </a:xfrm>
          <a:prstGeom prst="rect">
            <a:avLst/>
          </a:prstGeom>
          <a:noFill/>
        </p:spPr>
        <p:txBody>
          <a:bodyPr wrap="square">
            <a:spAutoFit/>
          </a:bodyPr>
          <a:lstStyle/>
          <a:p>
            <a:pPr algn="ctr" rtl="0">
              <a:buNone/>
            </a:pPr>
            <a:r>
              <a:rPr lang="es-AR" sz="1400" b="1" i="0" u="none" strike="noStrike" dirty="0">
                <a:solidFill>
                  <a:srgbClr val="005088"/>
                </a:solidFill>
                <a:effectLst/>
                <a:latin typeface="Poppins" panose="00000500000000000000" pitchFamily="2" charset="0"/>
              </a:rPr>
              <a:t>2. ¿Por qué ODE?</a:t>
            </a:r>
            <a:endParaRPr lang="es-AR" sz="1400" b="0" dirty="0">
              <a:effectLst/>
            </a:endParaRPr>
          </a:p>
          <a:p>
            <a:pPr>
              <a:buNone/>
            </a:pPr>
            <a:br>
              <a:rPr lang="es-AR" dirty="0"/>
            </a:br>
            <a:endParaRPr lang="es-AR" dirty="0"/>
          </a:p>
        </p:txBody>
      </p:sp>
      <p:sp>
        <p:nvSpPr>
          <p:cNvPr id="55" name="CuadroTexto 54">
            <a:extLst>
              <a:ext uri="{FF2B5EF4-FFF2-40B4-BE49-F238E27FC236}">
                <a16:creationId xmlns:a16="http://schemas.microsoft.com/office/drawing/2014/main" id="{1FA506B0-3EFE-C17A-A56C-548ED5E174C3}"/>
              </a:ext>
            </a:extLst>
          </p:cNvPr>
          <p:cNvSpPr txBox="1"/>
          <p:nvPr/>
        </p:nvSpPr>
        <p:spPr>
          <a:xfrm>
            <a:off x="3514725" y="1958787"/>
            <a:ext cx="2019301" cy="2862322"/>
          </a:xfrm>
          <a:prstGeom prst="rect">
            <a:avLst/>
          </a:prstGeom>
          <a:noFill/>
        </p:spPr>
        <p:txBody>
          <a:bodyPr wrap="square">
            <a:spAutoFit/>
          </a:bodyPr>
          <a:lstStyle/>
          <a:p>
            <a:r>
              <a:rPr lang="es-AR" sz="1200" dirty="0">
                <a:solidFill>
                  <a:srgbClr val="475569"/>
                </a:solidFill>
                <a:latin typeface="Lato" panose="020F0502020204030203" pitchFamily="34" charset="0"/>
              </a:rPr>
              <a:t>Las Ecuaciones Diferenciales Ordinarias (ODE) permiten capturar la dinámica continua del cambio poblacional.</a:t>
            </a:r>
          </a:p>
          <a:p>
            <a:endParaRPr lang="es-AR" sz="1200" dirty="0">
              <a:solidFill>
                <a:srgbClr val="475569"/>
              </a:solidFill>
              <a:latin typeface="Lato" panose="020F0502020204030203" pitchFamily="34" charset="0"/>
            </a:endParaRPr>
          </a:p>
          <a:p>
            <a:pPr marL="171450" indent="-171450">
              <a:buFont typeface="Arial" panose="020B0604020202020204" pitchFamily="34" charset="0"/>
              <a:buChar char="•"/>
            </a:pPr>
            <a:r>
              <a:rPr lang="es-AR" sz="1200" dirty="0">
                <a:solidFill>
                  <a:srgbClr val="475569"/>
                </a:solidFill>
                <a:effectLst/>
                <a:latin typeface="Lato" panose="020F0502020204030203" pitchFamily="34" charset="0"/>
              </a:rPr>
              <a:t>Respetan la causalidad</a:t>
            </a:r>
            <a:r>
              <a:rPr lang="es-AR" sz="1200" dirty="0">
                <a:solidFill>
                  <a:srgbClr val="475569"/>
                </a:solidFill>
                <a:latin typeface="Lato" panose="020F0502020204030203" pitchFamily="34" charset="0"/>
              </a:rPr>
              <a:t> temporal.</a:t>
            </a:r>
          </a:p>
          <a:p>
            <a:endParaRPr lang="es-AR" sz="1200" dirty="0">
              <a:solidFill>
                <a:srgbClr val="475569"/>
              </a:solidFill>
              <a:latin typeface="Lato" panose="020F0502020204030203" pitchFamily="34" charset="0"/>
            </a:endParaRPr>
          </a:p>
          <a:p>
            <a:pPr marL="171450" indent="-171450">
              <a:buFont typeface="Arial" panose="020B0604020202020204" pitchFamily="34" charset="0"/>
              <a:buChar char="•"/>
            </a:pPr>
            <a:r>
              <a:rPr lang="es-AR" sz="1200" dirty="0">
                <a:solidFill>
                  <a:srgbClr val="475569"/>
                </a:solidFill>
                <a:effectLst/>
                <a:latin typeface="Lato" panose="020F0502020204030203" pitchFamily="34" charset="0"/>
              </a:rPr>
              <a:t>P</a:t>
            </a:r>
            <a:r>
              <a:rPr lang="es-AR" sz="1200" dirty="0">
                <a:solidFill>
                  <a:srgbClr val="475569"/>
                </a:solidFill>
                <a:latin typeface="Lato" panose="020F0502020204030203" pitchFamily="34" charset="0"/>
              </a:rPr>
              <a:t>ermiten integrar flujos (migración) y tasas (natalidad) de forma natural.</a:t>
            </a:r>
            <a:endParaRPr lang="es-AR" sz="1200" dirty="0">
              <a:effectLst/>
            </a:endParaRPr>
          </a:p>
          <a:p>
            <a:pPr>
              <a:buNone/>
            </a:pPr>
            <a:br>
              <a:rPr lang="es-AR" sz="1200" dirty="0"/>
            </a:br>
            <a:endParaRPr lang="es-AR" sz="1200" dirty="0"/>
          </a:p>
        </p:txBody>
      </p:sp>
      <p:pic>
        <p:nvPicPr>
          <p:cNvPr id="57" name="Imagen 56" descr="image.png">
            <a:extLst>
              <a:ext uri="{FF2B5EF4-FFF2-40B4-BE49-F238E27FC236}">
                <a16:creationId xmlns:a16="http://schemas.microsoft.com/office/drawing/2014/main" id="{C9C7EE20-D89A-7BD5-51D9-01AD2543B0A9}"/>
              </a:ext>
            </a:extLst>
          </p:cNvPr>
          <p:cNvPicPr>
            <a:picLocks noChangeAspect="1"/>
          </p:cNvPicPr>
          <p:nvPr/>
        </p:nvPicPr>
        <p:blipFill>
          <a:blip r:embed="rId3"/>
          <a:stretch>
            <a:fillRect/>
          </a:stretch>
        </p:blipFill>
        <p:spPr>
          <a:xfrm>
            <a:off x="6172202" y="1476886"/>
            <a:ext cx="2400299" cy="3478465"/>
          </a:xfrm>
          <a:prstGeom prst="rect">
            <a:avLst/>
          </a:prstGeom>
        </p:spPr>
      </p:pic>
      <p:sp>
        <p:nvSpPr>
          <p:cNvPr id="58" name="CuadroTexto 57">
            <a:extLst>
              <a:ext uri="{FF2B5EF4-FFF2-40B4-BE49-F238E27FC236}">
                <a16:creationId xmlns:a16="http://schemas.microsoft.com/office/drawing/2014/main" id="{FF597D10-56C7-8982-DFF8-DA361A309214}"/>
              </a:ext>
            </a:extLst>
          </p:cNvPr>
          <p:cNvSpPr txBox="1"/>
          <p:nvPr/>
        </p:nvSpPr>
        <p:spPr>
          <a:xfrm>
            <a:off x="6229351" y="1564688"/>
            <a:ext cx="2286000" cy="861774"/>
          </a:xfrm>
          <a:prstGeom prst="rect">
            <a:avLst/>
          </a:prstGeom>
          <a:noFill/>
        </p:spPr>
        <p:txBody>
          <a:bodyPr wrap="square">
            <a:spAutoFit/>
          </a:bodyPr>
          <a:lstStyle/>
          <a:p>
            <a:pPr algn="ctr" rtl="0">
              <a:buNone/>
            </a:pPr>
            <a:r>
              <a:rPr lang="es-AR" sz="1400" b="1" i="0" u="none" strike="noStrike" dirty="0">
                <a:solidFill>
                  <a:srgbClr val="005088"/>
                </a:solidFill>
                <a:effectLst/>
                <a:latin typeface="Poppins" panose="00000500000000000000" pitchFamily="2" charset="0"/>
              </a:rPr>
              <a:t>3. El salto a UDE</a:t>
            </a:r>
            <a:endParaRPr lang="es-AR" sz="1400" b="0" dirty="0">
              <a:effectLst/>
            </a:endParaRPr>
          </a:p>
          <a:p>
            <a:pPr>
              <a:buNone/>
            </a:pPr>
            <a:br>
              <a:rPr lang="es-AR" dirty="0"/>
            </a:br>
            <a:endParaRPr lang="es-AR" dirty="0"/>
          </a:p>
        </p:txBody>
      </p:sp>
      <p:sp>
        <p:nvSpPr>
          <p:cNvPr id="59" name="CuadroTexto 58">
            <a:extLst>
              <a:ext uri="{FF2B5EF4-FFF2-40B4-BE49-F238E27FC236}">
                <a16:creationId xmlns:a16="http://schemas.microsoft.com/office/drawing/2014/main" id="{791ECCA7-A015-C993-5A8C-A3CFE2EDB318}"/>
              </a:ext>
            </a:extLst>
          </p:cNvPr>
          <p:cNvSpPr txBox="1"/>
          <p:nvPr/>
        </p:nvSpPr>
        <p:spPr>
          <a:xfrm>
            <a:off x="6400801" y="1958787"/>
            <a:ext cx="2019301" cy="3046988"/>
          </a:xfrm>
          <a:prstGeom prst="rect">
            <a:avLst/>
          </a:prstGeom>
          <a:noFill/>
        </p:spPr>
        <p:txBody>
          <a:bodyPr wrap="square">
            <a:spAutoFit/>
          </a:bodyPr>
          <a:lstStyle/>
          <a:p>
            <a:r>
              <a:rPr lang="es-AR" sz="1200" dirty="0">
                <a:solidFill>
                  <a:srgbClr val="475569"/>
                </a:solidFill>
                <a:latin typeface="Lato" panose="020F0502020204030203" pitchFamily="34" charset="0"/>
              </a:rPr>
              <a:t>Las UDE resuelven la rigidez de las ODEs clásicas.</a:t>
            </a:r>
          </a:p>
          <a:p>
            <a:br>
              <a:rPr lang="es-AR" sz="1200" dirty="0"/>
            </a:br>
            <a:r>
              <a:rPr lang="es-AR" sz="1200" dirty="0">
                <a:solidFill>
                  <a:srgbClr val="475569"/>
                </a:solidFill>
                <a:latin typeface="Lato" panose="020F0502020204030203" pitchFamily="34" charset="0"/>
              </a:rPr>
              <a:t>Donde la ODE usa parámetros fijos, la UDE inserta una red neuronal para aprender desviaciones complejas (como la caída post-2019 o el shock COVID) que una fórmula simple no puede predecir.</a:t>
            </a:r>
          </a:p>
          <a:p>
            <a:br>
              <a:rPr lang="es-AR" sz="1200" dirty="0"/>
            </a:br>
            <a:endParaRPr lang="es-AR" sz="1200" b="1" dirty="0">
              <a:effectLst/>
            </a:endParaRPr>
          </a:p>
          <a:p>
            <a:pPr>
              <a:buNone/>
            </a:pPr>
            <a:br>
              <a:rPr lang="es-AR" sz="1200" dirty="0"/>
            </a:br>
            <a:endParaRPr lang="es-AR"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502920"/>
          </a:xfrm>
          <a:prstGeom prst="rect">
            <a:avLst/>
          </a:prstGeom>
          <a:noFill/>
          <a:ln/>
        </p:spPr>
        <p:txBody>
          <a:bodyPr wrap="square" lIns="0" tIns="0" rIns="0" bIns="0" rtlCol="0" anchor="ctr"/>
          <a:lstStyle/>
          <a:p>
            <a:pPr marL="0" indent="0" algn="l">
              <a:buNone/>
            </a:pPr>
            <a:r>
              <a:rPr lang="en-US" sz="2600" b="1" dirty="0">
                <a:solidFill>
                  <a:srgbClr val="FFFFFF"/>
                </a:solidFill>
                <a:latin typeface="Calibri" pitchFamily="34" charset="0"/>
                <a:ea typeface="Calibri" pitchFamily="34" charset="-122"/>
                <a:cs typeface="Calibri" pitchFamily="34" charset="-120"/>
              </a:rPr>
              <a:t>Metodología</a:t>
            </a:r>
            <a:endParaRPr lang="en-US" sz="2600" dirty="0"/>
          </a:p>
        </p:txBody>
      </p:sp>
      <p:sp>
        <p:nvSpPr>
          <p:cNvPr id="3" name="Shape 1"/>
          <p:cNvSpPr/>
          <p:nvPr/>
        </p:nvSpPr>
        <p:spPr>
          <a:xfrm>
            <a:off x="457200" y="731520"/>
            <a:ext cx="8229600" cy="18288"/>
          </a:xfrm>
          <a:prstGeom prst="rect">
            <a:avLst/>
          </a:prstGeom>
          <a:solidFill>
            <a:srgbClr val="2AA8BF"/>
          </a:solidFill>
          <a:ln w="12700">
            <a:solidFill>
              <a:srgbClr val="2AA8BF"/>
            </a:solidFill>
            <a:prstDash val="solid"/>
          </a:ln>
        </p:spPr>
        <p:txBody>
          <a:bodyPr/>
          <a:lstStyle/>
          <a:p>
            <a:endParaRPr lang="es-AR"/>
          </a:p>
        </p:txBody>
      </p:sp>
      <p:sp>
        <p:nvSpPr>
          <p:cNvPr id="4" name="Shape 2"/>
          <p:cNvSpPr/>
          <p:nvPr/>
        </p:nvSpPr>
        <p:spPr>
          <a:xfrm>
            <a:off x="365760" y="960120"/>
            <a:ext cx="8412480" cy="1097280"/>
          </a:xfrm>
          <a:prstGeom prst="roundRect">
            <a:avLst>
              <a:gd name="adj" fmla="val 8333"/>
            </a:avLst>
          </a:prstGeom>
          <a:solidFill>
            <a:srgbClr val="243F62"/>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5" name="Text 3"/>
          <p:cNvSpPr/>
          <p:nvPr/>
        </p:nvSpPr>
        <p:spPr>
          <a:xfrm>
            <a:off x="548640" y="1005840"/>
            <a:ext cx="4114800" cy="365760"/>
          </a:xfrm>
          <a:prstGeom prst="rect">
            <a:avLst/>
          </a:prstGeom>
          <a:noFill/>
          <a:ln/>
        </p:spPr>
        <p:txBody>
          <a:bodyPr wrap="square" lIns="0" tIns="0" rIns="0" bIns="0" rtlCol="0" anchor="ctr"/>
          <a:lstStyle/>
          <a:p>
            <a:pPr marL="0" indent="0" algn="l">
              <a:buNone/>
            </a:pPr>
            <a:r>
              <a:rPr lang="en-US" sz="1300" b="1" dirty="0">
                <a:solidFill>
                  <a:srgbClr val="2AA8BF"/>
                </a:solidFill>
                <a:latin typeface="Calibri" pitchFamily="34" charset="0"/>
                <a:ea typeface="Calibri" pitchFamily="34" charset="-122"/>
                <a:cs typeface="Calibri" pitchFamily="34" charset="-120"/>
              </a:rPr>
              <a:t>Ecuación de Malthus (UDE)</a:t>
            </a:r>
            <a:endParaRPr lang="en-US" sz="1300" dirty="0"/>
          </a:p>
        </p:txBody>
      </p:sp>
      <p:sp>
        <p:nvSpPr>
          <p:cNvPr id="6" name="Text 4"/>
          <p:cNvSpPr/>
          <p:nvPr/>
        </p:nvSpPr>
        <p:spPr>
          <a:xfrm>
            <a:off x="548640" y="1389888"/>
            <a:ext cx="80467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ourier New" pitchFamily="34" charset="0"/>
                <a:ea typeface="Courier New" pitchFamily="34" charset="-122"/>
                <a:cs typeface="Courier New" pitchFamily="34" charset="-120"/>
              </a:rPr>
              <a:t>dP/dt = P(t) · [ b(t) − d(t) + m(t) + nn(τ) ]</a:t>
            </a:r>
            <a:endParaRPr lang="en-US" sz="1800" dirty="0"/>
          </a:p>
        </p:txBody>
      </p:sp>
      <p:sp>
        <p:nvSpPr>
          <p:cNvPr id="7" name="Shape 5"/>
          <p:cNvSpPr/>
          <p:nvPr/>
        </p:nvSpPr>
        <p:spPr>
          <a:xfrm>
            <a:off x="365760" y="2286000"/>
            <a:ext cx="2651760" cy="1234440"/>
          </a:xfrm>
          <a:prstGeom prst="roundRect">
            <a:avLst>
              <a:gd name="adj" fmla="val 7407"/>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8" name="Text 6"/>
          <p:cNvSpPr/>
          <p:nvPr/>
        </p:nvSpPr>
        <p:spPr>
          <a:xfrm>
            <a:off x="457200" y="2359152"/>
            <a:ext cx="2468880" cy="457200"/>
          </a:xfrm>
          <a:prstGeom prst="rect">
            <a:avLst/>
          </a:prstGeom>
          <a:noFill/>
          <a:ln/>
        </p:spPr>
        <p:txBody>
          <a:bodyPr wrap="square" lIns="0" tIns="0" rIns="0" bIns="0" rtlCol="0" anchor="ctr"/>
          <a:lstStyle/>
          <a:p>
            <a:pPr marL="0" indent="0" algn="ctr">
              <a:buNone/>
            </a:pPr>
            <a:r>
              <a:rPr lang="en-US" sz="2200" b="1" dirty="0">
                <a:solidFill>
                  <a:srgbClr val="4472C4"/>
                </a:solidFill>
                <a:latin typeface="Courier New" pitchFamily="34" charset="0"/>
                <a:ea typeface="Courier New" pitchFamily="34" charset="-122"/>
                <a:cs typeface="Courier New" pitchFamily="34" charset="-120"/>
              </a:rPr>
              <a:t>b(t)</a:t>
            </a:r>
            <a:endParaRPr lang="en-US" sz="2200" dirty="0"/>
          </a:p>
        </p:txBody>
      </p:sp>
      <p:sp>
        <p:nvSpPr>
          <p:cNvPr id="9" name="Text 7"/>
          <p:cNvSpPr/>
          <p:nvPr/>
        </p:nvSpPr>
        <p:spPr>
          <a:xfrm>
            <a:off x="457200" y="2834640"/>
            <a:ext cx="2468880" cy="3200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Tasa de Natalidad</a:t>
            </a:r>
            <a:endParaRPr lang="en-US" sz="1200" dirty="0"/>
          </a:p>
        </p:txBody>
      </p:sp>
      <p:sp>
        <p:nvSpPr>
          <p:cNvPr id="10" name="Text 8"/>
          <p:cNvSpPr/>
          <p:nvPr/>
        </p:nvSpPr>
        <p:spPr>
          <a:xfrm>
            <a:off x="457200" y="3163824"/>
            <a:ext cx="2468880" cy="274320"/>
          </a:xfrm>
          <a:prstGeom prst="rect">
            <a:avLst/>
          </a:prstGeom>
          <a:noFill/>
          <a:ln/>
        </p:spPr>
        <p:txBody>
          <a:bodyPr wrap="square" lIns="0" tIns="0" rIns="0" bIns="0" rtlCol="0" anchor="ctr"/>
          <a:lstStyle/>
          <a:p>
            <a:pPr marL="0" indent="0" algn="ctr">
              <a:buNone/>
            </a:pPr>
            <a:r>
              <a:rPr lang="en-US" sz="1000" i="1" dirty="0">
                <a:solidFill>
                  <a:srgbClr val="A8C8D8"/>
                </a:solidFill>
                <a:latin typeface="Calibri" pitchFamily="34" charset="0"/>
                <a:ea typeface="Calibri" pitchFamily="34" charset="-122"/>
                <a:cs typeface="Calibri" pitchFamily="34" charset="-120"/>
              </a:rPr>
              <a:t>media histórica α</a:t>
            </a:r>
            <a:endParaRPr lang="en-US" sz="1000" dirty="0"/>
          </a:p>
        </p:txBody>
      </p:sp>
      <p:sp>
        <p:nvSpPr>
          <p:cNvPr id="11" name="Shape 9"/>
          <p:cNvSpPr/>
          <p:nvPr/>
        </p:nvSpPr>
        <p:spPr>
          <a:xfrm>
            <a:off x="3227832" y="2286000"/>
            <a:ext cx="2651760" cy="1234440"/>
          </a:xfrm>
          <a:prstGeom prst="roundRect">
            <a:avLst>
              <a:gd name="adj" fmla="val 7407"/>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2" name="Text 10"/>
          <p:cNvSpPr/>
          <p:nvPr/>
        </p:nvSpPr>
        <p:spPr>
          <a:xfrm>
            <a:off x="3319272" y="2359152"/>
            <a:ext cx="2468880" cy="457200"/>
          </a:xfrm>
          <a:prstGeom prst="rect">
            <a:avLst/>
          </a:prstGeom>
          <a:noFill/>
          <a:ln/>
        </p:spPr>
        <p:txBody>
          <a:bodyPr wrap="square" lIns="0" tIns="0" rIns="0" bIns="0" rtlCol="0" anchor="ctr"/>
          <a:lstStyle/>
          <a:p>
            <a:pPr marL="0" indent="0" algn="ctr">
              <a:buNone/>
            </a:pPr>
            <a:r>
              <a:rPr lang="en-US" sz="2200" b="1" dirty="0">
                <a:solidFill>
                  <a:srgbClr val="D95F3B"/>
                </a:solidFill>
                <a:latin typeface="Courier New" pitchFamily="34" charset="0"/>
                <a:ea typeface="Courier New" pitchFamily="34" charset="-122"/>
                <a:cs typeface="Courier New" pitchFamily="34" charset="-120"/>
              </a:rPr>
              <a:t>d(t)</a:t>
            </a:r>
            <a:endParaRPr lang="en-US" sz="2200" dirty="0"/>
          </a:p>
        </p:txBody>
      </p:sp>
      <p:sp>
        <p:nvSpPr>
          <p:cNvPr id="13" name="Text 11"/>
          <p:cNvSpPr/>
          <p:nvPr/>
        </p:nvSpPr>
        <p:spPr>
          <a:xfrm>
            <a:off x="3319272" y="2834640"/>
            <a:ext cx="2468880" cy="3200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Tasa de Mortalidad</a:t>
            </a:r>
            <a:endParaRPr lang="en-US" sz="1200" dirty="0"/>
          </a:p>
        </p:txBody>
      </p:sp>
      <p:sp>
        <p:nvSpPr>
          <p:cNvPr id="14" name="Text 12"/>
          <p:cNvSpPr/>
          <p:nvPr/>
        </p:nvSpPr>
        <p:spPr>
          <a:xfrm>
            <a:off x="3319272" y="3163824"/>
            <a:ext cx="2468880" cy="274320"/>
          </a:xfrm>
          <a:prstGeom prst="rect">
            <a:avLst/>
          </a:prstGeom>
          <a:noFill/>
          <a:ln/>
        </p:spPr>
        <p:txBody>
          <a:bodyPr wrap="square" lIns="0" tIns="0" rIns="0" bIns="0" rtlCol="0" anchor="ctr"/>
          <a:lstStyle/>
          <a:p>
            <a:pPr marL="0" indent="0" algn="ctr">
              <a:buNone/>
            </a:pPr>
            <a:r>
              <a:rPr lang="en-US" sz="1000" i="1" dirty="0">
                <a:solidFill>
                  <a:srgbClr val="A8C8D8"/>
                </a:solidFill>
                <a:latin typeface="Calibri" pitchFamily="34" charset="0"/>
                <a:ea typeface="Calibri" pitchFamily="34" charset="-122"/>
                <a:cs typeface="Calibri" pitchFamily="34" charset="-120"/>
              </a:rPr>
              <a:t>media histórica γ</a:t>
            </a:r>
            <a:endParaRPr lang="en-US" sz="1000" dirty="0"/>
          </a:p>
        </p:txBody>
      </p:sp>
      <p:sp>
        <p:nvSpPr>
          <p:cNvPr id="15" name="Shape 13"/>
          <p:cNvSpPr/>
          <p:nvPr/>
        </p:nvSpPr>
        <p:spPr>
          <a:xfrm>
            <a:off x="6089904" y="2286000"/>
            <a:ext cx="2651760" cy="1234440"/>
          </a:xfrm>
          <a:prstGeom prst="roundRect">
            <a:avLst>
              <a:gd name="adj" fmla="val 7407"/>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6" name="Text 14"/>
          <p:cNvSpPr/>
          <p:nvPr/>
        </p:nvSpPr>
        <p:spPr>
          <a:xfrm>
            <a:off x="6181344" y="2359152"/>
            <a:ext cx="2468880" cy="457200"/>
          </a:xfrm>
          <a:prstGeom prst="rect">
            <a:avLst/>
          </a:prstGeom>
          <a:noFill/>
          <a:ln/>
        </p:spPr>
        <p:txBody>
          <a:bodyPr wrap="square" lIns="0" tIns="0" rIns="0" bIns="0" rtlCol="0" anchor="ctr"/>
          <a:lstStyle/>
          <a:p>
            <a:pPr marL="0" indent="0" algn="ctr">
              <a:buNone/>
            </a:pPr>
            <a:r>
              <a:rPr lang="en-US" sz="2200" b="1" dirty="0">
                <a:solidFill>
                  <a:srgbClr val="E8A838"/>
                </a:solidFill>
                <a:latin typeface="Courier New" pitchFamily="34" charset="0"/>
                <a:ea typeface="Courier New" pitchFamily="34" charset="-122"/>
                <a:cs typeface="Courier New" pitchFamily="34" charset="-120"/>
              </a:rPr>
              <a:t>m(t)</a:t>
            </a:r>
            <a:endParaRPr lang="en-US" sz="2200" dirty="0"/>
          </a:p>
        </p:txBody>
      </p:sp>
      <p:sp>
        <p:nvSpPr>
          <p:cNvPr id="17" name="Text 15"/>
          <p:cNvSpPr/>
          <p:nvPr/>
        </p:nvSpPr>
        <p:spPr>
          <a:xfrm>
            <a:off x="6181344" y="2834640"/>
            <a:ext cx="2468880" cy="3200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Migración Neta</a:t>
            </a:r>
            <a:endParaRPr lang="en-US" sz="1200" dirty="0"/>
          </a:p>
        </p:txBody>
      </p:sp>
      <p:sp>
        <p:nvSpPr>
          <p:cNvPr id="18" name="Text 16"/>
          <p:cNvSpPr/>
          <p:nvPr/>
        </p:nvSpPr>
        <p:spPr>
          <a:xfrm>
            <a:off x="6181344" y="3163824"/>
            <a:ext cx="2468880" cy="274320"/>
          </a:xfrm>
          <a:prstGeom prst="rect">
            <a:avLst/>
          </a:prstGeom>
          <a:noFill/>
          <a:ln/>
        </p:spPr>
        <p:txBody>
          <a:bodyPr wrap="square" lIns="0" tIns="0" rIns="0" bIns="0" rtlCol="0" anchor="ctr"/>
          <a:lstStyle/>
          <a:p>
            <a:pPr marL="0" indent="0" algn="ctr">
              <a:buNone/>
            </a:pPr>
            <a:r>
              <a:rPr lang="en-US" sz="1000" i="1" dirty="0">
                <a:solidFill>
                  <a:srgbClr val="A8C8D8"/>
                </a:solidFill>
                <a:latin typeface="Calibri" pitchFamily="34" charset="0"/>
                <a:ea typeface="Calibri" pitchFamily="34" charset="-122"/>
                <a:cs typeface="Calibri" pitchFamily="34" charset="-120"/>
              </a:rPr>
              <a:t>media histórica μ</a:t>
            </a:r>
            <a:endParaRPr lang="en-US" sz="1000" dirty="0"/>
          </a:p>
        </p:txBody>
      </p:sp>
      <p:sp>
        <p:nvSpPr>
          <p:cNvPr id="19" name="Shape 17"/>
          <p:cNvSpPr/>
          <p:nvPr/>
        </p:nvSpPr>
        <p:spPr>
          <a:xfrm>
            <a:off x="365760" y="3703320"/>
            <a:ext cx="8412480" cy="1143000"/>
          </a:xfrm>
          <a:prstGeom prst="roundRect">
            <a:avLst>
              <a:gd name="adj" fmla="val 8000"/>
            </a:avLst>
          </a:prstGeom>
          <a:solidFill>
            <a:srgbClr val="1D4060"/>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20" name="Shape 18"/>
          <p:cNvSpPr/>
          <p:nvPr/>
        </p:nvSpPr>
        <p:spPr>
          <a:xfrm>
            <a:off x="365760" y="3703320"/>
            <a:ext cx="8412480" cy="1143000"/>
          </a:xfrm>
          <a:prstGeom prst="roundRect">
            <a:avLst>
              <a:gd name="adj" fmla="val 8000"/>
            </a:avLst>
          </a:prstGeom>
          <a:solidFill>
            <a:srgbClr val="1D4060"/>
          </a:solidFill>
          <a:ln w="19050">
            <a:solidFill>
              <a:srgbClr val="2AA8BF"/>
            </a:solidFill>
            <a:prstDash val="solid"/>
          </a:ln>
        </p:spPr>
        <p:txBody>
          <a:bodyPr/>
          <a:lstStyle/>
          <a:p>
            <a:endParaRPr lang="es-AR"/>
          </a:p>
        </p:txBody>
      </p:sp>
      <p:sp>
        <p:nvSpPr>
          <p:cNvPr id="21" name="Text 19"/>
          <p:cNvSpPr/>
          <p:nvPr/>
        </p:nvSpPr>
        <p:spPr>
          <a:xfrm>
            <a:off x="548640" y="3749040"/>
            <a:ext cx="1280160" cy="502920"/>
          </a:xfrm>
          <a:prstGeom prst="rect">
            <a:avLst/>
          </a:prstGeom>
          <a:noFill/>
          <a:ln/>
        </p:spPr>
        <p:txBody>
          <a:bodyPr wrap="square" lIns="0" tIns="0" rIns="0" bIns="0" rtlCol="0" anchor="ctr"/>
          <a:lstStyle/>
          <a:p>
            <a:pPr marL="0" indent="0" algn="ctr">
              <a:buNone/>
            </a:pPr>
            <a:r>
              <a:rPr lang="en-US" sz="2200" b="1" dirty="0">
                <a:solidFill>
                  <a:srgbClr val="2AA8BF"/>
                </a:solidFill>
                <a:latin typeface="Courier New" pitchFamily="34" charset="0"/>
                <a:ea typeface="Courier New" pitchFamily="34" charset="-122"/>
                <a:cs typeface="Courier New" pitchFamily="34" charset="-120"/>
              </a:rPr>
              <a:t>nn(τ)</a:t>
            </a:r>
            <a:endParaRPr lang="en-US" sz="2200" dirty="0"/>
          </a:p>
        </p:txBody>
      </p:sp>
      <p:sp>
        <p:nvSpPr>
          <p:cNvPr id="22" name="Text 20"/>
          <p:cNvSpPr/>
          <p:nvPr/>
        </p:nvSpPr>
        <p:spPr>
          <a:xfrm>
            <a:off x="1965960" y="3767328"/>
            <a:ext cx="6629400" cy="1005840"/>
          </a:xfrm>
          <a:prstGeom prst="rect">
            <a:avLst/>
          </a:prstGeom>
          <a:noFill/>
          <a:ln/>
        </p:spPr>
        <p:txBody>
          <a:bodyPr wrap="square" lIns="0" tIns="0" rIns="0" bIns="0" rtlCol="0" anchor="ctr"/>
          <a:lstStyle/>
          <a:p>
            <a:pPr marL="0" indent="0" algn="l">
              <a:buNone/>
            </a:pPr>
            <a:r>
              <a:rPr lang="en-US" sz="1200" dirty="0">
                <a:solidFill>
                  <a:srgbClr val="FFFFFF"/>
                </a:solidFill>
                <a:latin typeface="Calibri" pitchFamily="34" charset="0"/>
                <a:ea typeface="Calibri" pitchFamily="34" charset="-122"/>
                <a:cs typeface="Calibri" pitchFamily="34" charset="-120"/>
              </a:rPr>
              <a:t>Red neuronal: aprende las desviaciones temporales que los parámetros constantes no capturan (caída de </a:t>
            </a:r>
            <a:r>
              <a:rPr lang="en-US" sz="1200" dirty="0" err="1">
                <a:solidFill>
                  <a:srgbClr val="FFFFFF"/>
                </a:solidFill>
                <a:latin typeface="Calibri" pitchFamily="34" charset="0"/>
                <a:ea typeface="Calibri" pitchFamily="34" charset="-122"/>
                <a:cs typeface="Calibri" pitchFamily="34" charset="-120"/>
              </a:rPr>
              <a:t>natalidad</a:t>
            </a:r>
            <a:r>
              <a:rPr lang="en-US" sz="1200" dirty="0">
                <a:solidFill>
                  <a:srgbClr val="FFFFFF"/>
                </a:solidFill>
                <a:latin typeface="Calibri" pitchFamily="34" charset="0"/>
                <a:ea typeface="Calibri" pitchFamily="34" charset="-122"/>
                <a:cs typeface="Calibri" pitchFamily="34" charset="-120"/>
              </a:rPr>
              <a:t> post-2019, shock COVID, cambios en </a:t>
            </a:r>
            <a:r>
              <a:rPr lang="en-US" sz="1200" dirty="0" err="1">
                <a:solidFill>
                  <a:srgbClr val="FFFFFF"/>
                </a:solidFill>
                <a:latin typeface="Calibri" pitchFamily="34" charset="0"/>
                <a:ea typeface="Calibri" pitchFamily="34" charset="-122"/>
                <a:cs typeface="Calibri" pitchFamily="34" charset="-120"/>
              </a:rPr>
              <a:t>migración</a:t>
            </a:r>
            <a:r>
              <a:rPr lang="en-US" sz="1200" dirty="0">
                <a:solidFill>
                  <a:srgbClr val="FFFFFF"/>
                </a:solidFill>
                <a:latin typeface="Calibri" pitchFamily="34" charset="0"/>
                <a:ea typeface="Calibri" pitchFamily="34" charset="-122"/>
                <a:cs typeface="Calibri" pitchFamily="34" charset="-120"/>
              </a:rPr>
              <a:t>). </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5752F55-2CCC-C35C-A175-A7FA0236407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B95177-BF6D-8F28-73B6-D3519CFE7DE9}"/>
              </a:ext>
            </a:extLst>
          </p:cNvPr>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Función de Costo — MSE</a:t>
            </a:r>
            <a:endParaRPr lang="en-US" sz="2600" dirty="0"/>
          </a:p>
        </p:txBody>
      </p:sp>
      <p:sp>
        <p:nvSpPr>
          <p:cNvPr id="3" name="Shape 1">
            <a:extLst>
              <a:ext uri="{FF2B5EF4-FFF2-40B4-BE49-F238E27FC236}">
                <a16:creationId xmlns:a16="http://schemas.microsoft.com/office/drawing/2014/main" id="{00CD0A56-1F60-25A3-43F6-B6898AE87AB5}"/>
              </a:ext>
            </a:extLst>
          </p:cNvPr>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sp>
        <p:nvSpPr>
          <p:cNvPr id="4" name="Shape 2">
            <a:extLst>
              <a:ext uri="{FF2B5EF4-FFF2-40B4-BE49-F238E27FC236}">
                <a16:creationId xmlns:a16="http://schemas.microsoft.com/office/drawing/2014/main" id="{84F86825-B5F9-0BDD-B8B8-F06B4CC634F9}"/>
              </a:ext>
            </a:extLst>
          </p:cNvPr>
          <p:cNvSpPr/>
          <p:nvPr/>
        </p:nvSpPr>
        <p:spPr>
          <a:xfrm>
            <a:off x="365760" y="960120"/>
            <a:ext cx="8412480" cy="1051560"/>
          </a:xfrm>
          <a:prstGeom prst="roundRect">
            <a:avLst>
              <a:gd name="adj" fmla="val 8696"/>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5" name="Text 3">
            <a:extLst>
              <a:ext uri="{FF2B5EF4-FFF2-40B4-BE49-F238E27FC236}">
                <a16:creationId xmlns:a16="http://schemas.microsoft.com/office/drawing/2014/main" id="{861C632D-A76F-FACE-7B44-BDA0B92D8821}"/>
              </a:ext>
            </a:extLst>
          </p:cNvPr>
          <p:cNvSpPr/>
          <p:nvPr/>
        </p:nvSpPr>
        <p:spPr>
          <a:xfrm>
            <a:off x="548640" y="1005840"/>
            <a:ext cx="8046720" cy="960120"/>
          </a:xfrm>
          <a:prstGeom prst="rect">
            <a:avLst/>
          </a:prstGeom>
          <a:noFill/>
          <a:ln/>
        </p:spPr>
        <p:txBody>
          <a:bodyPr wrap="square" lIns="0" tIns="0" rIns="0" bIns="0" rtlCol="0" anchor="ctr"/>
          <a:lstStyle/>
          <a:p>
            <a:pPr marL="0" indent="0" algn="ctr">
              <a:buNone/>
            </a:pPr>
            <a:r>
              <a:rPr lang="en-US" sz="2000" b="1" dirty="0">
                <a:solidFill>
                  <a:srgbClr val="1B2A4A"/>
                </a:solidFill>
                <a:latin typeface="Courier New" pitchFamily="34" charset="0"/>
                <a:ea typeface="Courier New" pitchFamily="34" charset="-122"/>
                <a:cs typeface="Courier New" pitchFamily="34" charset="-120"/>
              </a:rPr>
              <a:t>ℒ(θ) = (1/N) · Σᵢ ( Yobs(tᵢ) − Ŷ(tᵢ ; θ) )²</a:t>
            </a:r>
            <a:endParaRPr lang="en-US" sz="2000" dirty="0"/>
          </a:p>
        </p:txBody>
      </p:sp>
      <p:sp>
        <p:nvSpPr>
          <p:cNvPr id="6" name="Shape 4">
            <a:extLst>
              <a:ext uri="{FF2B5EF4-FFF2-40B4-BE49-F238E27FC236}">
                <a16:creationId xmlns:a16="http://schemas.microsoft.com/office/drawing/2014/main" id="{2DBC8D3E-652B-B22B-4F7F-1B485DB29E6B}"/>
              </a:ext>
            </a:extLst>
          </p:cNvPr>
          <p:cNvSpPr/>
          <p:nvPr/>
        </p:nvSpPr>
        <p:spPr>
          <a:xfrm>
            <a:off x="365760" y="2240280"/>
            <a:ext cx="3931920" cy="1207008"/>
          </a:xfrm>
          <a:prstGeom prst="roundRect">
            <a:avLst>
              <a:gd name="adj" fmla="val 7576"/>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7" name="Text 5">
            <a:extLst>
              <a:ext uri="{FF2B5EF4-FFF2-40B4-BE49-F238E27FC236}">
                <a16:creationId xmlns:a16="http://schemas.microsoft.com/office/drawing/2014/main" id="{5233A25E-7712-13B4-E977-6882724AFBEF}"/>
              </a:ext>
            </a:extLst>
          </p:cNvPr>
          <p:cNvSpPr/>
          <p:nvPr/>
        </p:nvSpPr>
        <p:spPr>
          <a:xfrm>
            <a:off x="502920" y="2313432"/>
            <a:ext cx="1280160" cy="1051560"/>
          </a:xfrm>
          <a:prstGeom prst="rect">
            <a:avLst/>
          </a:prstGeom>
          <a:noFill/>
          <a:ln/>
        </p:spPr>
        <p:txBody>
          <a:bodyPr wrap="square" lIns="0" tIns="0" rIns="0" bIns="0" rtlCol="0" anchor="ctr"/>
          <a:lstStyle/>
          <a:p>
            <a:pPr marL="0" indent="0" algn="ctr">
              <a:buNone/>
            </a:pPr>
            <a:r>
              <a:rPr lang="en-US" sz="1800" b="1" dirty="0">
                <a:solidFill>
                  <a:srgbClr val="7B2D8B"/>
                </a:solidFill>
                <a:latin typeface="Courier New" pitchFamily="34" charset="0"/>
                <a:ea typeface="Courier New" pitchFamily="34" charset="-122"/>
                <a:cs typeface="Courier New" pitchFamily="34" charset="-120"/>
              </a:rPr>
              <a:t>θ</a:t>
            </a:r>
            <a:endParaRPr lang="en-US" sz="1800" dirty="0"/>
          </a:p>
        </p:txBody>
      </p:sp>
      <p:sp>
        <p:nvSpPr>
          <p:cNvPr id="8" name="Text 6">
            <a:extLst>
              <a:ext uri="{FF2B5EF4-FFF2-40B4-BE49-F238E27FC236}">
                <a16:creationId xmlns:a16="http://schemas.microsoft.com/office/drawing/2014/main" id="{CEEED1A6-766B-5F12-B1AF-4ED1E091F110}"/>
              </a:ext>
            </a:extLst>
          </p:cNvPr>
          <p:cNvSpPr/>
          <p:nvPr/>
        </p:nvSpPr>
        <p:spPr>
          <a:xfrm>
            <a:off x="1874520" y="2331720"/>
            <a:ext cx="2286000" cy="411480"/>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Parámetros del modelo</a:t>
            </a:r>
            <a:endParaRPr lang="en-US" sz="1300" dirty="0"/>
          </a:p>
        </p:txBody>
      </p:sp>
      <p:sp>
        <p:nvSpPr>
          <p:cNvPr id="9" name="Text 7">
            <a:extLst>
              <a:ext uri="{FF2B5EF4-FFF2-40B4-BE49-F238E27FC236}">
                <a16:creationId xmlns:a16="http://schemas.microsoft.com/office/drawing/2014/main" id="{27DF839F-57F1-E63B-C52B-61430469C3B0}"/>
              </a:ext>
            </a:extLst>
          </p:cNvPr>
          <p:cNvSpPr/>
          <p:nvPr/>
        </p:nvSpPr>
        <p:spPr>
          <a:xfrm>
            <a:off x="1874520" y="2788920"/>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Tasa de Natalidad</a:t>
            </a:r>
          </a:p>
          <a:p>
            <a:pPr marL="0" indent="0" algn="l">
              <a:buNone/>
            </a:pPr>
            <a:r>
              <a:rPr lang="en-US" sz="1100" dirty="0">
                <a:solidFill>
                  <a:srgbClr val="64748B"/>
                </a:solidFill>
                <a:latin typeface="Calibri" pitchFamily="34" charset="0"/>
                <a:cs typeface="Calibri" pitchFamily="34" charset="-120"/>
              </a:rPr>
              <a:t>Tasa de Mortalidad</a:t>
            </a:r>
          </a:p>
          <a:p>
            <a:pPr marL="0" indent="0" algn="l">
              <a:buNone/>
            </a:pPr>
            <a:r>
              <a:rPr lang="en-US" sz="1100" dirty="0">
                <a:solidFill>
                  <a:srgbClr val="64748B"/>
                </a:solidFill>
                <a:latin typeface="Calibri" pitchFamily="34" charset="0"/>
                <a:cs typeface="Calibri" pitchFamily="34" charset="-120"/>
              </a:rPr>
              <a:t>Tasa de Migración</a:t>
            </a:r>
            <a:endParaRPr lang="en-US" sz="1100" dirty="0"/>
          </a:p>
        </p:txBody>
      </p:sp>
      <p:sp>
        <p:nvSpPr>
          <p:cNvPr id="10" name="Shape 8">
            <a:extLst>
              <a:ext uri="{FF2B5EF4-FFF2-40B4-BE49-F238E27FC236}">
                <a16:creationId xmlns:a16="http://schemas.microsoft.com/office/drawing/2014/main" id="{9AB3E55E-9D01-C758-6727-2233CD0BD64D}"/>
              </a:ext>
            </a:extLst>
          </p:cNvPr>
          <p:cNvSpPr/>
          <p:nvPr/>
        </p:nvSpPr>
        <p:spPr>
          <a:xfrm>
            <a:off x="4617720" y="2240280"/>
            <a:ext cx="3931920" cy="1207008"/>
          </a:xfrm>
          <a:prstGeom prst="roundRect">
            <a:avLst>
              <a:gd name="adj" fmla="val 7576"/>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1" name="Text 9">
            <a:extLst>
              <a:ext uri="{FF2B5EF4-FFF2-40B4-BE49-F238E27FC236}">
                <a16:creationId xmlns:a16="http://schemas.microsoft.com/office/drawing/2014/main" id="{FDC68A1A-314F-1AE9-BC00-BDE88B68F9DC}"/>
              </a:ext>
            </a:extLst>
          </p:cNvPr>
          <p:cNvSpPr/>
          <p:nvPr/>
        </p:nvSpPr>
        <p:spPr>
          <a:xfrm>
            <a:off x="4754880" y="2313432"/>
            <a:ext cx="1280160" cy="1051560"/>
          </a:xfrm>
          <a:prstGeom prst="rect">
            <a:avLst/>
          </a:prstGeom>
          <a:noFill/>
          <a:ln/>
        </p:spPr>
        <p:txBody>
          <a:bodyPr wrap="square" lIns="0" tIns="0" rIns="0" bIns="0" rtlCol="0" anchor="ctr"/>
          <a:lstStyle/>
          <a:p>
            <a:pPr marL="0" indent="0" algn="ctr">
              <a:buNone/>
            </a:pPr>
            <a:r>
              <a:rPr lang="en-US" sz="1800" b="1" dirty="0">
                <a:solidFill>
                  <a:srgbClr val="1D7A8C"/>
                </a:solidFill>
                <a:latin typeface="Courier New" pitchFamily="34" charset="0"/>
                <a:ea typeface="Courier New" pitchFamily="34" charset="-122"/>
                <a:cs typeface="Courier New" pitchFamily="34" charset="-120"/>
              </a:rPr>
              <a:t>N</a:t>
            </a:r>
            <a:endParaRPr lang="en-US" sz="1800" dirty="0"/>
          </a:p>
        </p:txBody>
      </p:sp>
      <p:sp>
        <p:nvSpPr>
          <p:cNvPr id="12" name="Text 10">
            <a:extLst>
              <a:ext uri="{FF2B5EF4-FFF2-40B4-BE49-F238E27FC236}">
                <a16:creationId xmlns:a16="http://schemas.microsoft.com/office/drawing/2014/main" id="{5EC09D66-FA6A-2CB6-B5D2-EC7D4DAC2D22}"/>
              </a:ext>
            </a:extLst>
          </p:cNvPr>
          <p:cNvSpPr/>
          <p:nvPr/>
        </p:nvSpPr>
        <p:spPr>
          <a:xfrm>
            <a:off x="6126480" y="2331720"/>
            <a:ext cx="2286000" cy="411480"/>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Número de observaciones</a:t>
            </a:r>
            <a:endParaRPr lang="en-US" sz="1300" dirty="0"/>
          </a:p>
        </p:txBody>
      </p:sp>
      <p:sp>
        <p:nvSpPr>
          <p:cNvPr id="13" name="Text 11">
            <a:extLst>
              <a:ext uri="{FF2B5EF4-FFF2-40B4-BE49-F238E27FC236}">
                <a16:creationId xmlns:a16="http://schemas.microsoft.com/office/drawing/2014/main" id="{2080ACD1-980E-035F-0769-37C8C9A997EE}"/>
              </a:ext>
            </a:extLst>
          </p:cNvPr>
          <p:cNvSpPr/>
          <p:nvPr/>
        </p:nvSpPr>
        <p:spPr>
          <a:xfrm>
            <a:off x="6126480" y="2788920"/>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11 años (2012 – 2022)</a:t>
            </a:r>
            <a:endParaRPr lang="en-US" sz="1100" dirty="0"/>
          </a:p>
        </p:txBody>
      </p:sp>
      <p:sp>
        <p:nvSpPr>
          <p:cNvPr id="14" name="Shape 12">
            <a:extLst>
              <a:ext uri="{FF2B5EF4-FFF2-40B4-BE49-F238E27FC236}">
                <a16:creationId xmlns:a16="http://schemas.microsoft.com/office/drawing/2014/main" id="{3EFFF7A0-1144-7851-45BF-7F5A47A8B92F}"/>
              </a:ext>
            </a:extLst>
          </p:cNvPr>
          <p:cNvSpPr/>
          <p:nvPr/>
        </p:nvSpPr>
        <p:spPr>
          <a:xfrm>
            <a:off x="365760" y="3611880"/>
            <a:ext cx="3931920" cy="1207008"/>
          </a:xfrm>
          <a:prstGeom prst="roundRect">
            <a:avLst>
              <a:gd name="adj" fmla="val 7576"/>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5" name="Text 13">
            <a:extLst>
              <a:ext uri="{FF2B5EF4-FFF2-40B4-BE49-F238E27FC236}">
                <a16:creationId xmlns:a16="http://schemas.microsoft.com/office/drawing/2014/main" id="{7C4AB91A-CBA9-31CB-5E00-87C43C974C74}"/>
              </a:ext>
            </a:extLst>
          </p:cNvPr>
          <p:cNvSpPr/>
          <p:nvPr/>
        </p:nvSpPr>
        <p:spPr>
          <a:xfrm>
            <a:off x="502920" y="3685032"/>
            <a:ext cx="1280160" cy="1051560"/>
          </a:xfrm>
          <a:prstGeom prst="rect">
            <a:avLst/>
          </a:prstGeom>
          <a:noFill/>
          <a:ln/>
        </p:spPr>
        <p:txBody>
          <a:bodyPr wrap="square" lIns="0" tIns="0" rIns="0" bIns="0" rtlCol="0" anchor="ctr"/>
          <a:lstStyle/>
          <a:p>
            <a:pPr marL="0" indent="0" algn="ctr">
              <a:buNone/>
            </a:pPr>
            <a:r>
              <a:rPr lang="en-US" sz="1800" b="1" dirty="0">
                <a:solidFill>
                  <a:srgbClr val="D95F3B"/>
                </a:solidFill>
                <a:latin typeface="Courier New" pitchFamily="34" charset="0"/>
                <a:ea typeface="Courier New" pitchFamily="34" charset="-122"/>
                <a:cs typeface="Courier New" pitchFamily="34" charset="-120"/>
              </a:rPr>
              <a:t>Yobs(tᵢ)</a:t>
            </a:r>
            <a:endParaRPr lang="en-US" sz="1800" dirty="0"/>
          </a:p>
        </p:txBody>
      </p:sp>
      <p:sp>
        <p:nvSpPr>
          <p:cNvPr id="16" name="Text 14">
            <a:extLst>
              <a:ext uri="{FF2B5EF4-FFF2-40B4-BE49-F238E27FC236}">
                <a16:creationId xmlns:a16="http://schemas.microsoft.com/office/drawing/2014/main" id="{E9843A49-E939-8963-0DA4-35B1646EFA13}"/>
              </a:ext>
            </a:extLst>
          </p:cNvPr>
          <p:cNvSpPr/>
          <p:nvPr/>
        </p:nvSpPr>
        <p:spPr>
          <a:xfrm>
            <a:off x="1874520" y="3703320"/>
            <a:ext cx="2286000" cy="411480"/>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Dato real observado</a:t>
            </a:r>
            <a:endParaRPr lang="en-US" sz="1300" dirty="0"/>
          </a:p>
        </p:txBody>
      </p:sp>
      <p:sp>
        <p:nvSpPr>
          <p:cNvPr id="17" name="Text 15">
            <a:extLst>
              <a:ext uri="{FF2B5EF4-FFF2-40B4-BE49-F238E27FC236}">
                <a16:creationId xmlns:a16="http://schemas.microsoft.com/office/drawing/2014/main" id="{725775E1-17F9-2D5A-3F41-3D61A60EC9FC}"/>
              </a:ext>
            </a:extLst>
          </p:cNvPr>
          <p:cNvSpPr/>
          <p:nvPr/>
        </p:nvSpPr>
        <p:spPr>
          <a:xfrm>
            <a:off x="1874520" y="4160520"/>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Población INDEC normalizada</a:t>
            </a:r>
            <a:endParaRPr lang="en-US" sz="1100" dirty="0"/>
          </a:p>
        </p:txBody>
      </p:sp>
      <p:sp>
        <p:nvSpPr>
          <p:cNvPr id="18" name="Shape 16">
            <a:extLst>
              <a:ext uri="{FF2B5EF4-FFF2-40B4-BE49-F238E27FC236}">
                <a16:creationId xmlns:a16="http://schemas.microsoft.com/office/drawing/2014/main" id="{E3D45C96-DD65-2897-455F-E9CBAA14BE92}"/>
              </a:ext>
            </a:extLst>
          </p:cNvPr>
          <p:cNvSpPr/>
          <p:nvPr/>
        </p:nvSpPr>
        <p:spPr>
          <a:xfrm>
            <a:off x="4617720" y="3611880"/>
            <a:ext cx="3931920" cy="1207008"/>
          </a:xfrm>
          <a:prstGeom prst="roundRect">
            <a:avLst>
              <a:gd name="adj" fmla="val 7576"/>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9" name="Text 17">
            <a:extLst>
              <a:ext uri="{FF2B5EF4-FFF2-40B4-BE49-F238E27FC236}">
                <a16:creationId xmlns:a16="http://schemas.microsoft.com/office/drawing/2014/main" id="{A8497269-C031-A05A-AA00-DD61EF8579E8}"/>
              </a:ext>
            </a:extLst>
          </p:cNvPr>
          <p:cNvSpPr/>
          <p:nvPr/>
        </p:nvSpPr>
        <p:spPr>
          <a:xfrm>
            <a:off x="4754880" y="3685032"/>
            <a:ext cx="1280160" cy="1051560"/>
          </a:xfrm>
          <a:prstGeom prst="rect">
            <a:avLst/>
          </a:prstGeom>
          <a:noFill/>
          <a:ln/>
        </p:spPr>
        <p:txBody>
          <a:bodyPr wrap="square" lIns="0" tIns="0" rIns="0" bIns="0" rtlCol="0" anchor="ctr"/>
          <a:lstStyle/>
          <a:p>
            <a:pPr marL="0" indent="0" algn="ctr">
              <a:buNone/>
            </a:pPr>
            <a:r>
              <a:rPr lang="en-US" sz="1800" b="1" dirty="0">
                <a:solidFill>
                  <a:srgbClr val="2E8B57"/>
                </a:solidFill>
                <a:latin typeface="Courier New" pitchFamily="34" charset="0"/>
                <a:ea typeface="Courier New" pitchFamily="34" charset="-122"/>
                <a:cs typeface="Courier New" pitchFamily="34" charset="-120"/>
              </a:rPr>
              <a:t>Ŷ(tᵢ; θ)</a:t>
            </a:r>
            <a:endParaRPr lang="en-US" sz="1800" dirty="0"/>
          </a:p>
        </p:txBody>
      </p:sp>
      <p:sp>
        <p:nvSpPr>
          <p:cNvPr id="20" name="Text 18">
            <a:extLst>
              <a:ext uri="{FF2B5EF4-FFF2-40B4-BE49-F238E27FC236}">
                <a16:creationId xmlns:a16="http://schemas.microsoft.com/office/drawing/2014/main" id="{BC7FD7AD-FAB6-5BFE-821D-059F43D062E0}"/>
              </a:ext>
            </a:extLst>
          </p:cNvPr>
          <p:cNvSpPr/>
          <p:nvPr/>
        </p:nvSpPr>
        <p:spPr>
          <a:xfrm>
            <a:off x="6126480" y="3703320"/>
            <a:ext cx="2286000" cy="411480"/>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Predicción del modelo</a:t>
            </a:r>
            <a:endParaRPr lang="en-US" sz="1300" dirty="0"/>
          </a:p>
        </p:txBody>
      </p:sp>
      <p:sp>
        <p:nvSpPr>
          <p:cNvPr id="21" name="Text 19">
            <a:extLst>
              <a:ext uri="{FF2B5EF4-FFF2-40B4-BE49-F238E27FC236}">
                <a16:creationId xmlns:a16="http://schemas.microsoft.com/office/drawing/2014/main" id="{271A2F0B-2857-9100-540B-E54D889A2F6E}"/>
              </a:ext>
            </a:extLst>
          </p:cNvPr>
          <p:cNvSpPr/>
          <p:nvPr/>
        </p:nvSpPr>
        <p:spPr>
          <a:xfrm>
            <a:off x="6126480" y="4160520"/>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Salida del solver ODE</a:t>
            </a:r>
            <a:endParaRPr lang="en-US" sz="1100" dirty="0"/>
          </a:p>
        </p:txBody>
      </p:sp>
    </p:spTree>
    <p:extLst>
      <p:ext uri="{BB962C8B-B14F-4D97-AF65-F5344CB8AC3E}">
        <p14:creationId xmlns:p14="http://schemas.microsoft.com/office/powerpoint/2010/main" val="31022450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Resultados — Entrenamiento de la UDE</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sp>
        <p:nvSpPr>
          <p:cNvPr id="4" name="Shape 2"/>
          <p:cNvSpPr/>
          <p:nvPr/>
        </p:nvSpPr>
        <p:spPr>
          <a:xfrm>
            <a:off x="365760" y="960120"/>
            <a:ext cx="2651760" cy="3977640"/>
          </a:xfrm>
          <a:prstGeom prst="roundRect">
            <a:avLst>
              <a:gd name="adj" fmla="val 344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pic>
        <p:nvPicPr>
          <p:cNvPr id="5" name="Image 0" descr="preencoded.png"/>
          <p:cNvPicPr>
            <a:picLocks noChangeAspect="1"/>
          </p:cNvPicPr>
          <p:nvPr/>
        </p:nvPicPr>
        <p:blipFill>
          <a:blip r:embed="rId3"/>
          <a:stretch>
            <a:fillRect/>
          </a:stretch>
        </p:blipFill>
        <p:spPr>
          <a:xfrm>
            <a:off x="1371600" y="1097280"/>
            <a:ext cx="640080" cy="640080"/>
          </a:xfrm>
          <a:prstGeom prst="rect">
            <a:avLst/>
          </a:prstGeom>
        </p:spPr>
      </p:pic>
      <p:sp>
        <p:nvSpPr>
          <p:cNvPr id="6" name="Text 3"/>
          <p:cNvSpPr/>
          <p:nvPr/>
        </p:nvSpPr>
        <p:spPr>
          <a:xfrm>
            <a:off x="502920" y="1828800"/>
            <a:ext cx="2377440" cy="502920"/>
          </a:xfrm>
          <a:prstGeom prst="rect">
            <a:avLst/>
          </a:prstGeom>
          <a:noFill/>
          <a:ln/>
        </p:spPr>
        <p:txBody>
          <a:bodyPr wrap="square" lIns="0" tIns="0" rIns="0" bIns="0" rtlCol="0" anchor="ctr"/>
          <a:lstStyle/>
          <a:p>
            <a:pPr marL="0" indent="0" algn="ctr">
              <a:buNone/>
            </a:pPr>
            <a:r>
              <a:rPr lang="en-US" sz="1400" b="1" dirty="0">
                <a:solidFill>
                  <a:srgbClr val="2E8B57"/>
                </a:solidFill>
                <a:latin typeface="Calibri" pitchFamily="34" charset="0"/>
                <a:ea typeface="Calibri" pitchFamily="34" charset="-122"/>
                <a:cs typeface="Calibri" pitchFamily="34" charset="-120"/>
              </a:rPr>
              <a:t>Ajuste histórico</a:t>
            </a:r>
            <a:endParaRPr lang="en-US" sz="1400" dirty="0"/>
          </a:p>
        </p:txBody>
      </p:sp>
      <p:sp>
        <p:nvSpPr>
          <p:cNvPr id="7" name="Text 4"/>
          <p:cNvSpPr/>
          <p:nvPr/>
        </p:nvSpPr>
        <p:spPr>
          <a:xfrm>
            <a:off x="548640" y="2395728"/>
            <a:ext cx="2286000" cy="2423160"/>
          </a:xfrm>
          <a:prstGeom prst="rect">
            <a:avLst/>
          </a:prstGeom>
          <a:noFill/>
          <a:ln/>
        </p:spPr>
        <p:txBody>
          <a:bodyPr wrap="square" lIns="0" tIns="0" rIns="0" bIns="0" rtlCol="0" anchor="t"/>
          <a:lstStyle/>
          <a:p>
            <a:pPr marL="0" indent="0" algn="l">
              <a:buNone/>
            </a:pPr>
            <a:r>
              <a:rPr lang="en-US" sz="1200" dirty="0">
                <a:solidFill>
                  <a:srgbClr val="1B2A4A"/>
                </a:solidFill>
                <a:latin typeface="Calibri" pitchFamily="34" charset="0"/>
                <a:ea typeface="Calibri" pitchFamily="34" charset="-122"/>
                <a:cs typeface="Calibri" pitchFamily="34" charset="-120"/>
              </a:rPr>
              <a:t>La UDE (verde) se superpone casi perfectamente con los 11 puntos del INDEC. La ODE clásica (sin red) no logra seguir la dinámica real.</a:t>
            </a:r>
            <a:endParaRPr lang="en-US" sz="1200" dirty="0"/>
          </a:p>
        </p:txBody>
      </p:sp>
      <p:sp>
        <p:nvSpPr>
          <p:cNvPr id="8" name="Shape 5"/>
          <p:cNvSpPr/>
          <p:nvPr/>
        </p:nvSpPr>
        <p:spPr>
          <a:xfrm>
            <a:off x="3227832" y="960120"/>
            <a:ext cx="2651760" cy="3977640"/>
          </a:xfrm>
          <a:prstGeom prst="roundRect">
            <a:avLst>
              <a:gd name="adj" fmla="val 344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pic>
        <p:nvPicPr>
          <p:cNvPr id="9" name="Image 1" descr="preencoded.png"/>
          <p:cNvPicPr>
            <a:picLocks noChangeAspect="1"/>
          </p:cNvPicPr>
          <p:nvPr/>
        </p:nvPicPr>
        <p:blipFill>
          <a:blip r:embed="rId4"/>
          <a:stretch>
            <a:fillRect/>
          </a:stretch>
        </p:blipFill>
        <p:spPr>
          <a:xfrm>
            <a:off x="4233672" y="1097280"/>
            <a:ext cx="640080" cy="640080"/>
          </a:xfrm>
          <a:prstGeom prst="rect">
            <a:avLst/>
          </a:prstGeom>
        </p:spPr>
      </p:pic>
      <p:sp>
        <p:nvSpPr>
          <p:cNvPr id="10" name="Text 6"/>
          <p:cNvSpPr/>
          <p:nvPr/>
        </p:nvSpPr>
        <p:spPr>
          <a:xfrm>
            <a:off x="3364992" y="1828800"/>
            <a:ext cx="2377440" cy="502920"/>
          </a:xfrm>
          <a:prstGeom prst="rect">
            <a:avLst/>
          </a:prstGeom>
          <a:noFill/>
          <a:ln/>
        </p:spPr>
        <p:txBody>
          <a:bodyPr wrap="square" lIns="0" tIns="0" rIns="0" bIns="0" rtlCol="0" anchor="ctr"/>
          <a:lstStyle/>
          <a:p>
            <a:pPr marL="0" indent="0" algn="ctr">
              <a:buNone/>
            </a:pPr>
            <a:r>
              <a:rPr lang="en-US" sz="1400" b="1" dirty="0">
                <a:solidFill>
                  <a:srgbClr val="1D7A8C"/>
                </a:solidFill>
                <a:latin typeface="Calibri" pitchFamily="34" charset="0"/>
                <a:ea typeface="Calibri" pitchFamily="34" charset="-122"/>
                <a:cs typeface="Calibri" pitchFamily="34" charset="-120"/>
              </a:rPr>
              <a:t>Convergencia</a:t>
            </a:r>
            <a:endParaRPr lang="en-US" sz="1400" dirty="0"/>
          </a:p>
        </p:txBody>
      </p:sp>
      <p:sp>
        <p:nvSpPr>
          <p:cNvPr id="11" name="Text 7"/>
          <p:cNvSpPr/>
          <p:nvPr/>
        </p:nvSpPr>
        <p:spPr>
          <a:xfrm>
            <a:off x="3410712" y="2395728"/>
            <a:ext cx="2286000" cy="2423160"/>
          </a:xfrm>
          <a:prstGeom prst="rect">
            <a:avLst/>
          </a:prstGeom>
          <a:noFill/>
          <a:ln/>
        </p:spPr>
        <p:txBody>
          <a:bodyPr wrap="square" lIns="0" tIns="0" rIns="0" bIns="0" rtlCol="0" anchor="t"/>
          <a:lstStyle/>
          <a:p>
            <a:pPr marL="0" indent="0" algn="l">
              <a:buNone/>
            </a:pPr>
            <a:r>
              <a:rPr lang="en-US" sz="1200" dirty="0">
                <a:solidFill>
                  <a:srgbClr val="1B2A4A"/>
                </a:solidFill>
                <a:latin typeface="Calibri" pitchFamily="34" charset="0"/>
                <a:ea typeface="Calibri" pitchFamily="34" charset="-122"/>
                <a:cs typeface="Calibri" pitchFamily="34" charset="-120"/>
              </a:rPr>
              <a:t>La loss cae de ~10⁻² a ~10⁻⁸ en 3.000 épocas. El entrenamiento es estable con el esquema Adam → L-BFGS.</a:t>
            </a:r>
            <a:endParaRPr lang="en-US" sz="1200" dirty="0"/>
          </a:p>
        </p:txBody>
      </p:sp>
      <p:sp>
        <p:nvSpPr>
          <p:cNvPr id="12" name="Shape 8"/>
          <p:cNvSpPr/>
          <p:nvPr/>
        </p:nvSpPr>
        <p:spPr>
          <a:xfrm>
            <a:off x="6089904" y="960120"/>
            <a:ext cx="2651760" cy="3977640"/>
          </a:xfrm>
          <a:prstGeom prst="roundRect">
            <a:avLst>
              <a:gd name="adj" fmla="val 344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pic>
        <p:nvPicPr>
          <p:cNvPr id="13" name="Image 2" descr="preencoded.png"/>
          <p:cNvPicPr>
            <a:picLocks noChangeAspect="1"/>
          </p:cNvPicPr>
          <p:nvPr/>
        </p:nvPicPr>
        <p:blipFill>
          <a:blip r:embed="rId5"/>
          <a:stretch>
            <a:fillRect/>
          </a:stretch>
        </p:blipFill>
        <p:spPr>
          <a:xfrm>
            <a:off x="7095744" y="1097280"/>
            <a:ext cx="640080" cy="640080"/>
          </a:xfrm>
          <a:prstGeom prst="rect">
            <a:avLst/>
          </a:prstGeom>
        </p:spPr>
      </p:pic>
      <p:sp>
        <p:nvSpPr>
          <p:cNvPr id="14" name="Text 9"/>
          <p:cNvSpPr/>
          <p:nvPr/>
        </p:nvSpPr>
        <p:spPr>
          <a:xfrm>
            <a:off x="6227064" y="1828800"/>
            <a:ext cx="2377440" cy="502920"/>
          </a:xfrm>
          <a:prstGeom prst="rect">
            <a:avLst/>
          </a:prstGeom>
          <a:noFill/>
          <a:ln/>
        </p:spPr>
        <p:txBody>
          <a:bodyPr wrap="square" lIns="0" tIns="0" rIns="0" bIns="0" rtlCol="0" anchor="ctr"/>
          <a:lstStyle/>
          <a:p>
            <a:pPr marL="0" indent="0" algn="ctr">
              <a:buNone/>
            </a:pPr>
            <a:r>
              <a:rPr lang="en-US" sz="1400" b="1" dirty="0">
                <a:solidFill>
                  <a:srgbClr val="7B2D8B"/>
                </a:solidFill>
                <a:latin typeface="Calibri" pitchFamily="34" charset="0"/>
                <a:ea typeface="Calibri" pitchFamily="34" charset="-122"/>
                <a:cs typeface="Calibri" pitchFamily="34" charset="-120"/>
              </a:rPr>
              <a:t>Corrección nn(τ)</a:t>
            </a:r>
            <a:endParaRPr lang="en-US" sz="1400" dirty="0"/>
          </a:p>
        </p:txBody>
      </p:sp>
      <p:sp>
        <p:nvSpPr>
          <p:cNvPr id="15" name="Text 10"/>
          <p:cNvSpPr/>
          <p:nvPr/>
        </p:nvSpPr>
        <p:spPr>
          <a:xfrm>
            <a:off x="6272784" y="2395728"/>
            <a:ext cx="2286000" cy="2423160"/>
          </a:xfrm>
          <a:prstGeom prst="rect">
            <a:avLst/>
          </a:prstGeom>
          <a:noFill/>
          <a:ln/>
        </p:spPr>
        <p:txBody>
          <a:bodyPr wrap="square" lIns="0" tIns="0" rIns="0" bIns="0" rtlCol="0" anchor="t"/>
          <a:lstStyle/>
          <a:p>
            <a:pPr marL="0" indent="0" algn="l">
              <a:buNone/>
            </a:pPr>
            <a:r>
              <a:rPr lang="en-US" sz="1200" dirty="0">
                <a:solidFill>
                  <a:srgbClr val="1B2A4A"/>
                </a:solidFill>
                <a:latin typeface="Calibri" pitchFamily="34" charset="0"/>
                <a:ea typeface="Calibri" pitchFamily="34" charset="-122"/>
                <a:cs typeface="Calibri" pitchFamily="34" charset="-120"/>
              </a:rPr>
              <a:t>La red aprende una corrección decreciente en el tiempo, capturando la caída secular de la </a:t>
            </a:r>
            <a:r>
              <a:rPr lang="en-US" sz="1200" dirty="0" err="1">
                <a:solidFill>
                  <a:srgbClr val="1B2A4A"/>
                </a:solidFill>
                <a:latin typeface="Calibri" pitchFamily="34" charset="0"/>
                <a:ea typeface="Calibri" pitchFamily="34" charset="-122"/>
                <a:cs typeface="Calibri" pitchFamily="34" charset="-120"/>
              </a:rPr>
              <a:t>natalidad</a:t>
            </a:r>
            <a:r>
              <a:rPr lang="en-US" sz="1200" dirty="0">
                <a:solidFill>
                  <a:srgbClr val="1B2A4A"/>
                </a:solidFill>
                <a:latin typeface="Calibri" pitchFamily="34" charset="0"/>
                <a:ea typeface="Calibri" pitchFamily="34" charset="-122"/>
                <a:cs typeface="Calibri" pitchFamily="34" charset="-120"/>
              </a:rPr>
              <a:t> que Malthus puro no puede modelar.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011549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FFFFFF"/>
                </a:solidFill>
                <a:latin typeface="Calibri" pitchFamily="34" charset="0"/>
                <a:ea typeface="Calibri" pitchFamily="34" charset="-122"/>
                <a:cs typeface="Calibri" pitchFamily="34" charset="-120"/>
              </a:rPr>
              <a:t>Proyección al 2050 — Tres Escenarios</a:t>
            </a:r>
            <a:endParaRPr lang="en-US" sz="2600" dirty="0"/>
          </a:p>
        </p:txBody>
      </p:sp>
      <p:sp>
        <p:nvSpPr>
          <p:cNvPr id="3" name="Shape 1"/>
          <p:cNvSpPr/>
          <p:nvPr/>
        </p:nvSpPr>
        <p:spPr>
          <a:xfrm>
            <a:off x="457200" y="804672"/>
            <a:ext cx="8229600" cy="18288"/>
          </a:xfrm>
          <a:prstGeom prst="rect">
            <a:avLst/>
          </a:prstGeom>
          <a:solidFill>
            <a:srgbClr val="2AA8BF"/>
          </a:solidFill>
          <a:ln w="12700">
            <a:solidFill>
              <a:srgbClr val="2AA8BF"/>
            </a:solidFill>
            <a:prstDash val="solid"/>
          </a:ln>
        </p:spPr>
        <p:txBody>
          <a:bodyPr/>
          <a:lstStyle/>
          <a:p>
            <a:endParaRPr lang="es-AR"/>
          </a:p>
        </p:txBody>
      </p:sp>
      <p:graphicFrame>
        <p:nvGraphicFramePr>
          <p:cNvPr id="4" name="Chart 0"/>
          <p:cNvGraphicFramePr/>
          <p:nvPr>
            <p:extLst>
              <p:ext uri="{D42A27DB-BD31-4B8C-83A1-F6EECF244321}">
                <p14:modId xmlns:p14="http://schemas.microsoft.com/office/powerpoint/2010/main" val="1071072282"/>
              </p:ext>
            </p:extLst>
          </p:nvPr>
        </p:nvGraphicFramePr>
        <p:xfrm>
          <a:off x="365760" y="960120"/>
          <a:ext cx="548640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080760" y="1097280"/>
            <a:ext cx="2697480" cy="1097280"/>
          </a:xfrm>
          <a:prstGeom prst="roundRect">
            <a:avLst>
              <a:gd name="adj" fmla="val 8333"/>
            </a:avLst>
          </a:prstGeom>
          <a:solidFill>
            <a:srgbClr val="243F62"/>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6" name="Text 3"/>
          <p:cNvSpPr/>
          <p:nvPr/>
        </p:nvSpPr>
        <p:spPr>
          <a:xfrm>
            <a:off x="6217920" y="1161288"/>
            <a:ext cx="1097280" cy="365760"/>
          </a:xfrm>
          <a:prstGeom prst="rect">
            <a:avLst/>
          </a:prstGeom>
          <a:noFill/>
          <a:ln/>
        </p:spPr>
        <p:txBody>
          <a:bodyPr wrap="square" lIns="0" tIns="0" rIns="0" bIns="0" rtlCol="0" anchor="ctr"/>
          <a:lstStyle/>
          <a:p>
            <a:pPr marL="0" indent="0" algn="l">
              <a:buNone/>
            </a:pPr>
            <a:r>
              <a:rPr lang="en-US" sz="1200" b="1" dirty="0">
                <a:solidFill>
                  <a:srgbClr val="2AA8BF"/>
                </a:solidFill>
                <a:latin typeface="Calibri" pitchFamily="34" charset="0"/>
                <a:ea typeface="Calibri" pitchFamily="34" charset="-122"/>
                <a:cs typeface="Calibri" pitchFamily="34" charset="-120"/>
              </a:rPr>
              <a:t>Optimista</a:t>
            </a:r>
            <a:endParaRPr lang="en-US" sz="1200" dirty="0"/>
          </a:p>
        </p:txBody>
      </p:sp>
      <p:sp>
        <p:nvSpPr>
          <p:cNvPr id="7" name="Text 4"/>
          <p:cNvSpPr/>
          <p:nvPr/>
        </p:nvSpPr>
        <p:spPr>
          <a:xfrm>
            <a:off x="6217920" y="1508760"/>
            <a:ext cx="1371600" cy="548640"/>
          </a:xfrm>
          <a:prstGeom prst="rect">
            <a:avLst/>
          </a:prstGeom>
          <a:noFill/>
          <a:ln/>
        </p:spPr>
        <p:txBody>
          <a:bodyPr wrap="square" lIns="0" tIns="0" rIns="0" bIns="0" rtlCol="0" anchor="ctr"/>
          <a:lstStyle/>
          <a:p>
            <a:pPr marL="0" indent="0" algn="l">
              <a:buNone/>
            </a:pPr>
            <a:r>
              <a:rPr lang="en-US" sz="2400" b="1" dirty="0">
                <a:solidFill>
                  <a:srgbClr val="2AA8BF"/>
                </a:solidFill>
                <a:latin typeface="Calibri" pitchFamily="34" charset="0"/>
                <a:ea typeface="Calibri" pitchFamily="34" charset="-122"/>
                <a:cs typeface="Calibri" pitchFamily="34" charset="-120"/>
              </a:rPr>
              <a:t>60 M</a:t>
            </a:r>
            <a:endParaRPr lang="en-US" sz="2400" dirty="0"/>
          </a:p>
        </p:txBody>
      </p:sp>
      <p:sp>
        <p:nvSpPr>
          <p:cNvPr id="8" name="Text 5"/>
          <p:cNvSpPr/>
          <p:nvPr/>
        </p:nvSpPr>
        <p:spPr>
          <a:xfrm>
            <a:off x="7589520" y="1371600"/>
            <a:ext cx="1097280" cy="685800"/>
          </a:xfrm>
          <a:prstGeom prst="rect">
            <a:avLst/>
          </a:prstGeom>
          <a:noFill/>
          <a:ln/>
        </p:spPr>
        <p:txBody>
          <a:bodyPr wrap="square" lIns="0" tIns="0" rIns="0" bIns="0" rtlCol="0" anchor="ctr"/>
          <a:lstStyle/>
          <a:p>
            <a:pPr marL="0" indent="0" algn="l">
              <a:buNone/>
            </a:pPr>
            <a:r>
              <a:rPr lang="en-US" sz="1000" dirty="0">
                <a:solidFill>
                  <a:srgbClr val="A8C8D8"/>
                </a:solidFill>
                <a:latin typeface="Calibri" pitchFamily="34" charset="0"/>
                <a:ea typeface="Calibri" pitchFamily="34" charset="-122"/>
                <a:cs typeface="Calibri" pitchFamily="34" charset="-120"/>
              </a:rPr>
              <a:t>+</a:t>
            </a:r>
            <a:r>
              <a:rPr lang="en-US" sz="1000" dirty="0" err="1">
                <a:solidFill>
                  <a:srgbClr val="A8C8D8"/>
                </a:solidFill>
                <a:latin typeface="Calibri" pitchFamily="34" charset="0"/>
                <a:ea typeface="Calibri" pitchFamily="34" charset="-122"/>
                <a:cs typeface="Calibri" pitchFamily="34" charset="-120"/>
              </a:rPr>
              <a:t>migración</a:t>
            </a:r>
            <a:endParaRPr lang="en-US" sz="1000" dirty="0"/>
          </a:p>
          <a:p>
            <a:pPr marL="0" indent="0" algn="l">
              <a:buNone/>
            </a:pPr>
            <a:r>
              <a:rPr lang="en-US" sz="1000" dirty="0">
                <a:solidFill>
                  <a:srgbClr val="A8C8D8"/>
                </a:solidFill>
                <a:latin typeface="Calibri" pitchFamily="34" charset="0"/>
                <a:ea typeface="Calibri" pitchFamily="34" charset="-122"/>
                <a:cs typeface="Calibri" pitchFamily="34" charset="-120"/>
              </a:rPr>
              <a:t>+</a:t>
            </a:r>
            <a:r>
              <a:rPr lang="en-US" sz="1000" dirty="0" err="1">
                <a:solidFill>
                  <a:srgbClr val="A8C8D8"/>
                </a:solidFill>
                <a:latin typeface="Calibri" pitchFamily="34" charset="0"/>
                <a:ea typeface="Calibri" pitchFamily="34" charset="-122"/>
                <a:cs typeface="Calibri" pitchFamily="34" charset="-120"/>
              </a:rPr>
              <a:t>natalidad</a:t>
            </a:r>
            <a:endParaRPr lang="en-US" sz="1000" dirty="0"/>
          </a:p>
        </p:txBody>
      </p:sp>
      <p:sp>
        <p:nvSpPr>
          <p:cNvPr id="9" name="Shape 6"/>
          <p:cNvSpPr/>
          <p:nvPr/>
        </p:nvSpPr>
        <p:spPr>
          <a:xfrm>
            <a:off x="6080760" y="2331720"/>
            <a:ext cx="2697480" cy="1097280"/>
          </a:xfrm>
          <a:prstGeom prst="roundRect">
            <a:avLst>
              <a:gd name="adj" fmla="val 8333"/>
            </a:avLst>
          </a:prstGeom>
          <a:solidFill>
            <a:srgbClr val="243F62"/>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0" name="Text 7"/>
          <p:cNvSpPr/>
          <p:nvPr/>
        </p:nvSpPr>
        <p:spPr>
          <a:xfrm>
            <a:off x="6217920" y="2395728"/>
            <a:ext cx="1097280" cy="365760"/>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Base</a:t>
            </a:r>
            <a:endParaRPr lang="en-US" sz="1200" dirty="0"/>
          </a:p>
        </p:txBody>
      </p:sp>
      <p:sp>
        <p:nvSpPr>
          <p:cNvPr id="11" name="Text 8"/>
          <p:cNvSpPr/>
          <p:nvPr/>
        </p:nvSpPr>
        <p:spPr>
          <a:xfrm>
            <a:off x="6217920" y="2743200"/>
            <a:ext cx="1143000" cy="548640"/>
          </a:xfrm>
          <a:prstGeom prst="rect">
            <a:avLst/>
          </a:prstGeom>
          <a:noFill/>
          <a:ln/>
        </p:spPr>
        <p:txBody>
          <a:bodyPr wrap="square" lIns="0" tIns="0" rIns="0" bIns="0" rtlCol="0" anchor="ctr"/>
          <a:lstStyle/>
          <a:p>
            <a:pPr marL="0" indent="0" algn="l">
              <a:buNone/>
            </a:pPr>
            <a:r>
              <a:rPr lang="en-US" sz="2400" b="1" dirty="0">
                <a:solidFill>
                  <a:srgbClr val="FFFFFF"/>
                </a:solidFill>
                <a:latin typeface="Calibri" pitchFamily="34" charset="0"/>
                <a:ea typeface="Calibri" pitchFamily="34" charset="-122"/>
                <a:cs typeface="Calibri" pitchFamily="34" charset="-120"/>
              </a:rPr>
              <a:t>58 M</a:t>
            </a:r>
            <a:endParaRPr lang="en-US" sz="2400" dirty="0"/>
          </a:p>
        </p:txBody>
      </p:sp>
      <p:sp>
        <p:nvSpPr>
          <p:cNvPr id="12" name="Text 9"/>
          <p:cNvSpPr/>
          <p:nvPr/>
        </p:nvSpPr>
        <p:spPr>
          <a:xfrm>
            <a:off x="7589520" y="2606040"/>
            <a:ext cx="1097280" cy="685800"/>
          </a:xfrm>
          <a:prstGeom prst="rect">
            <a:avLst/>
          </a:prstGeom>
          <a:noFill/>
          <a:ln/>
        </p:spPr>
        <p:txBody>
          <a:bodyPr wrap="square" lIns="0" tIns="0" rIns="0" bIns="0" rtlCol="0" anchor="ctr"/>
          <a:lstStyle/>
          <a:p>
            <a:pPr marL="0" indent="0" algn="l">
              <a:buNone/>
            </a:pPr>
            <a:r>
              <a:rPr lang="en-US" sz="1000" dirty="0">
                <a:solidFill>
                  <a:srgbClr val="A8C8D8"/>
                </a:solidFill>
                <a:latin typeface="Calibri" pitchFamily="34" charset="0"/>
                <a:ea typeface="Calibri" pitchFamily="34" charset="-122"/>
                <a:cs typeface="Calibri" pitchFamily="34" charset="-120"/>
              </a:rPr>
              <a:t>tendencia</a:t>
            </a:r>
            <a:endParaRPr lang="en-US" sz="1000" dirty="0"/>
          </a:p>
          <a:p>
            <a:pPr marL="0" indent="0" algn="l">
              <a:buNone/>
            </a:pPr>
            <a:r>
              <a:rPr lang="en-US" sz="1000" dirty="0">
                <a:solidFill>
                  <a:srgbClr val="A8C8D8"/>
                </a:solidFill>
                <a:latin typeface="Calibri" pitchFamily="34" charset="0"/>
                <a:ea typeface="Calibri" pitchFamily="34" charset="-122"/>
                <a:cs typeface="Calibri" pitchFamily="34" charset="-120"/>
              </a:rPr>
              <a:t>actual</a:t>
            </a:r>
            <a:endParaRPr lang="en-US" sz="1000" dirty="0"/>
          </a:p>
        </p:txBody>
      </p:sp>
      <p:sp>
        <p:nvSpPr>
          <p:cNvPr id="13" name="Shape 10"/>
          <p:cNvSpPr/>
          <p:nvPr/>
        </p:nvSpPr>
        <p:spPr>
          <a:xfrm>
            <a:off x="6080760" y="3566160"/>
            <a:ext cx="2697480" cy="1097280"/>
          </a:xfrm>
          <a:prstGeom prst="roundRect">
            <a:avLst>
              <a:gd name="adj" fmla="val 8333"/>
            </a:avLst>
          </a:prstGeom>
          <a:solidFill>
            <a:srgbClr val="243F62"/>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4" name="Text 11"/>
          <p:cNvSpPr/>
          <p:nvPr/>
        </p:nvSpPr>
        <p:spPr>
          <a:xfrm>
            <a:off x="6217920" y="3630168"/>
            <a:ext cx="1097280" cy="365760"/>
          </a:xfrm>
          <a:prstGeom prst="rect">
            <a:avLst/>
          </a:prstGeom>
          <a:noFill/>
          <a:ln/>
        </p:spPr>
        <p:txBody>
          <a:bodyPr wrap="square" lIns="0" tIns="0" rIns="0" bIns="0" rtlCol="0" anchor="ctr"/>
          <a:lstStyle/>
          <a:p>
            <a:pPr marL="0" indent="0" algn="l">
              <a:buNone/>
            </a:pPr>
            <a:r>
              <a:rPr lang="en-US" sz="1200" b="1" dirty="0">
                <a:solidFill>
                  <a:srgbClr val="D95F3B"/>
                </a:solidFill>
                <a:latin typeface="Calibri" pitchFamily="34" charset="0"/>
                <a:ea typeface="Calibri" pitchFamily="34" charset="-122"/>
                <a:cs typeface="Calibri" pitchFamily="34" charset="-120"/>
              </a:rPr>
              <a:t>Pesimista</a:t>
            </a:r>
            <a:endParaRPr lang="en-US" sz="1200" dirty="0"/>
          </a:p>
        </p:txBody>
      </p:sp>
      <p:sp>
        <p:nvSpPr>
          <p:cNvPr id="15" name="Text 12"/>
          <p:cNvSpPr/>
          <p:nvPr/>
        </p:nvSpPr>
        <p:spPr>
          <a:xfrm>
            <a:off x="6217920" y="3977640"/>
            <a:ext cx="1371600" cy="548640"/>
          </a:xfrm>
          <a:prstGeom prst="rect">
            <a:avLst/>
          </a:prstGeom>
          <a:noFill/>
          <a:ln/>
        </p:spPr>
        <p:txBody>
          <a:bodyPr wrap="square" lIns="0" tIns="0" rIns="0" bIns="0" rtlCol="0" anchor="ctr"/>
          <a:lstStyle/>
          <a:p>
            <a:pPr marL="0" indent="0" algn="l">
              <a:buNone/>
            </a:pPr>
            <a:r>
              <a:rPr lang="en-US" sz="2400" b="1" dirty="0">
                <a:solidFill>
                  <a:srgbClr val="D95F3B"/>
                </a:solidFill>
                <a:latin typeface="Calibri" pitchFamily="34" charset="0"/>
                <a:ea typeface="Calibri" pitchFamily="34" charset="-122"/>
                <a:cs typeface="Calibri" pitchFamily="34" charset="-120"/>
              </a:rPr>
              <a:t>54 M</a:t>
            </a:r>
            <a:endParaRPr lang="en-US" sz="2400" dirty="0"/>
          </a:p>
        </p:txBody>
      </p:sp>
      <p:sp>
        <p:nvSpPr>
          <p:cNvPr id="16" name="Text 13"/>
          <p:cNvSpPr/>
          <p:nvPr/>
        </p:nvSpPr>
        <p:spPr>
          <a:xfrm>
            <a:off x="7589520" y="3840480"/>
            <a:ext cx="1097280" cy="685800"/>
          </a:xfrm>
          <a:prstGeom prst="rect">
            <a:avLst/>
          </a:prstGeom>
          <a:noFill/>
          <a:ln/>
        </p:spPr>
        <p:txBody>
          <a:bodyPr wrap="square" lIns="0" tIns="0" rIns="0" bIns="0" rtlCol="0" anchor="ctr"/>
          <a:lstStyle/>
          <a:p>
            <a:pPr marL="0" indent="0" algn="l">
              <a:buNone/>
            </a:pPr>
            <a:r>
              <a:rPr lang="en-US" sz="1000" dirty="0">
                <a:solidFill>
                  <a:srgbClr val="A8C8D8"/>
                </a:solidFill>
                <a:latin typeface="Calibri" pitchFamily="34" charset="0"/>
                <a:ea typeface="Calibri" pitchFamily="34" charset="-122"/>
                <a:cs typeface="Calibri" pitchFamily="34" charset="-120"/>
              </a:rPr>
              <a:t>−</a:t>
            </a:r>
            <a:r>
              <a:rPr lang="en-US" sz="1000" dirty="0" err="1">
                <a:solidFill>
                  <a:srgbClr val="A8C8D8"/>
                </a:solidFill>
                <a:latin typeface="Calibri" pitchFamily="34" charset="0"/>
                <a:ea typeface="Calibri" pitchFamily="34" charset="-122"/>
                <a:cs typeface="Calibri" pitchFamily="34" charset="-120"/>
              </a:rPr>
              <a:t>migración</a:t>
            </a:r>
            <a:endParaRPr lang="en-US" sz="1000" dirty="0"/>
          </a:p>
          <a:p>
            <a:pPr marL="0" indent="0" algn="l">
              <a:buNone/>
            </a:pPr>
            <a:r>
              <a:rPr lang="en-US" sz="1000" dirty="0">
                <a:solidFill>
                  <a:srgbClr val="A8C8D8"/>
                </a:solidFill>
                <a:latin typeface="Calibri" pitchFamily="34" charset="0"/>
                <a:ea typeface="Calibri" pitchFamily="34" charset="-122"/>
                <a:cs typeface="Calibri" pitchFamily="34" charset="-120"/>
              </a:rPr>
              <a:t>−</a:t>
            </a:r>
            <a:r>
              <a:rPr lang="en-US" sz="1000" dirty="0" err="1">
                <a:solidFill>
                  <a:srgbClr val="A8C8D8"/>
                </a:solidFill>
                <a:latin typeface="Calibri" pitchFamily="34" charset="0"/>
                <a:ea typeface="Calibri" pitchFamily="34" charset="-122"/>
                <a:cs typeface="Calibri" pitchFamily="34" charset="-120"/>
              </a:rPr>
              <a:t>natalidad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FFFFFF"/>
                </a:solidFill>
                <a:latin typeface="Calibri" pitchFamily="34" charset="0"/>
                <a:ea typeface="Calibri" pitchFamily="34" charset="-122"/>
                <a:cs typeface="Calibri" pitchFamily="34" charset="-120"/>
              </a:rPr>
              <a:t>Conclusiones</a:t>
            </a:r>
            <a:endParaRPr lang="en-US" sz="2600" dirty="0"/>
          </a:p>
        </p:txBody>
      </p:sp>
      <p:sp>
        <p:nvSpPr>
          <p:cNvPr id="3" name="Shape 1"/>
          <p:cNvSpPr/>
          <p:nvPr/>
        </p:nvSpPr>
        <p:spPr>
          <a:xfrm>
            <a:off x="457200" y="804672"/>
            <a:ext cx="8229600" cy="18288"/>
          </a:xfrm>
          <a:prstGeom prst="rect">
            <a:avLst/>
          </a:prstGeom>
          <a:solidFill>
            <a:srgbClr val="2AA8BF"/>
          </a:solidFill>
          <a:ln w="12700">
            <a:solidFill>
              <a:srgbClr val="2AA8BF"/>
            </a:solidFill>
            <a:prstDash val="solid"/>
          </a:ln>
        </p:spPr>
        <p:txBody>
          <a:bodyPr/>
          <a:lstStyle/>
          <a:p>
            <a:endParaRPr lang="es-AR"/>
          </a:p>
        </p:txBody>
      </p:sp>
      <p:sp>
        <p:nvSpPr>
          <p:cNvPr id="4" name="Shape 2"/>
          <p:cNvSpPr/>
          <p:nvPr/>
        </p:nvSpPr>
        <p:spPr>
          <a:xfrm>
            <a:off x="365760" y="1005840"/>
            <a:ext cx="8412480" cy="868680"/>
          </a:xfrm>
          <a:prstGeom prst="roundRect">
            <a:avLst>
              <a:gd name="adj" fmla="val 10526"/>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5" name="Text 3"/>
          <p:cNvSpPr/>
          <p:nvPr/>
        </p:nvSpPr>
        <p:spPr>
          <a:xfrm>
            <a:off x="502920" y="1078992"/>
            <a:ext cx="640080" cy="713232"/>
          </a:xfrm>
          <a:prstGeom prst="rect">
            <a:avLst/>
          </a:prstGeom>
          <a:noFill/>
          <a:ln/>
        </p:spPr>
        <p:txBody>
          <a:bodyPr wrap="square" lIns="0" tIns="0" rIns="0" bIns="0" rtlCol="0" anchor="ctr"/>
          <a:lstStyle/>
          <a:p>
            <a:pPr marL="0" indent="0" algn="ctr">
              <a:buNone/>
            </a:pPr>
            <a:r>
              <a:rPr lang="en-US" sz="2200" b="1" dirty="0">
                <a:solidFill>
                  <a:srgbClr val="2AA8BF"/>
                </a:solidFill>
                <a:latin typeface="Calibri" pitchFamily="34" charset="0"/>
                <a:ea typeface="Calibri" pitchFamily="34" charset="-122"/>
                <a:cs typeface="Calibri" pitchFamily="34" charset="-120"/>
              </a:rPr>
              <a:t>01</a:t>
            </a:r>
            <a:endParaRPr lang="en-US" sz="2200" dirty="0"/>
          </a:p>
        </p:txBody>
      </p:sp>
      <p:sp>
        <p:nvSpPr>
          <p:cNvPr id="6" name="Shape 4"/>
          <p:cNvSpPr/>
          <p:nvPr/>
        </p:nvSpPr>
        <p:spPr>
          <a:xfrm>
            <a:off x="1234440" y="1170432"/>
            <a:ext cx="18288" cy="548640"/>
          </a:xfrm>
          <a:prstGeom prst="rect">
            <a:avLst/>
          </a:prstGeom>
          <a:solidFill>
            <a:srgbClr val="2AA8BF"/>
          </a:solidFill>
          <a:ln w="12700">
            <a:solidFill>
              <a:srgbClr val="2AA8BF"/>
            </a:solidFill>
            <a:prstDash val="solid"/>
          </a:ln>
        </p:spPr>
        <p:txBody>
          <a:bodyPr/>
          <a:lstStyle/>
          <a:p>
            <a:endParaRPr lang="es-AR"/>
          </a:p>
        </p:txBody>
      </p:sp>
      <p:sp>
        <p:nvSpPr>
          <p:cNvPr id="7" name="Text 5"/>
          <p:cNvSpPr/>
          <p:nvPr/>
        </p:nvSpPr>
        <p:spPr>
          <a:xfrm>
            <a:off x="1371600" y="1078992"/>
            <a:ext cx="7223760" cy="713232"/>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Argentina está en sub-reemplazo desde 2019 y el crecimiento vegetativo cayó un 85% en 10 años.</a:t>
            </a:r>
            <a:endParaRPr lang="en-US" sz="1300" dirty="0"/>
          </a:p>
        </p:txBody>
      </p:sp>
      <p:sp>
        <p:nvSpPr>
          <p:cNvPr id="8" name="Shape 6"/>
          <p:cNvSpPr/>
          <p:nvPr/>
        </p:nvSpPr>
        <p:spPr>
          <a:xfrm>
            <a:off x="365760" y="1993392"/>
            <a:ext cx="8412480" cy="868680"/>
          </a:xfrm>
          <a:prstGeom prst="roundRect">
            <a:avLst>
              <a:gd name="adj" fmla="val 10526"/>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9" name="Text 7"/>
          <p:cNvSpPr/>
          <p:nvPr/>
        </p:nvSpPr>
        <p:spPr>
          <a:xfrm>
            <a:off x="502920" y="2066544"/>
            <a:ext cx="640080" cy="713232"/>
          </a:xfrm>
          <a:prstGeom prst="rect">
            <a:avLst/>
          </a:prstGeom>
          <a:noFill/>
          <a:ln/>
        </p:spPr>
        <p:txBody>
          <a:bodyPr wrap="square" lIns="0" tIns="0" rIns="0" bIns="0" rtlCol="0" anchor="ctr"/>
          <a:lstStyle/>
          <a:p>
            <a:pPr marL="0" indent="0" algn="ctr">
              <a:buNone/>
            </a:pPr>
            <a:r>
              <a:rPr lang="en-US" sz="2200" b="1" dirty="0">
                <a:solidFill>
                  <a:srgbClr val="E8A838"/>
                </a:solidFill>
                <a:latin typeface="Calibri" pitchFamily="34" charset="0"/>
                <a:ea typeface="Calibri" pitchFamily="34" charset="-122"/>
                <a:cs typeface="Calibri" pitchFamily="34" charset="-120"/>
              </a:rPr>
              <a:t>02</a:t>
            </a:r>
            <a:endParaRPr lang="en-US" sz="2200" dirty="0"/>
          </a:p>
        </p:txBody>
      </p:sp>
      <p:sp>
        <p:nvSpPr>
          <p:cNvPr id="10" name="Shape 8"/>
          <p:cNvSpPr/>
          <p:nvPr/>
        </p:nvSpPr>
        <p:spPr>
          <a:xfrm>
            <a:off x="1234440" y="2157984"/>
            <a:ext cx="18288" cy="548640"/>
          </a:xfrm>
          <a:prstGeom prst="rect">
            <a:avLst/>
          </a:prstGeom>
          <a:solidFill>
            <a:srgbClr val="E8A838"/>
          </a:solidFill>
          <a:ln w="12700">
            <a:solidFill>
              <a:srgbClr val="E8A838"/>
            </a:solidFill>
            <a:prstDash val="solid"/>
          </a:ln>
        </p:spPr>
        <p:txBody>
          <a:bodyPr/>
          <a:lstStyle/>
          <a:p>
            <a:endParaRPr lang="es-AR"/>
          </a:p>
        </p:txBody>
      </p:sp>
      <p:sp>
        <p:nvSpPr>
          <p:cNvPr id="11" name="Text 9"/>
          <p:cNvSpPr/>
          <p:nvPr/>
        </p:nvSpPr>
        <p:spPr>
          <a:xfrm>
            <a:off x="1371600" y="2066544"/>
            <a:ext cx="7223760" cy="713232"/>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La UDE captura la dinámica real donde la ODE clásica falla. La red neuronal aprende la </a:t>
            </a:r>
            <a:r>
              <a:rPr lang="en-US" sz="1300" dirty="0" err="1">
                <a:solidFill>
                  <a:srgbClr val="FFFFFF"/>
                </a:solidFill>
                <a:latin typeface="Calibri" pitchFamily="34" charset="0"/>
                <a:ea typeface="Calibri" pitchFamily="34" charset="-122"/>
                <a:cs typeface="Calibri" pitchFamily="34" charset="-120"/>
              </a:rPr>
              <a:t>caída</a:t>
            </a:r>
            <a:r>
              <a:rPr lang="en-US" sz="1300" dirty="0">
                <a:solidFill>
                  <a:srgbClr val="FFFFFF"/>
                </a:solidFill>
                <a:latin typeface="Calibri" pitchFamily="34" charset="0"/>
                <a:ea typeface="Calibri" pitchFamily="34" charset="-122"/>
                <a:cs typeface="Calibri" pitchFamily="34" charset="-120"/>
              </a:rPr>
              <a:t> de la </a:t>
            </a:r>
            <a:r>
              <a:rPr lang="en-US" sz="1300" dirty="0" err="1">
                <a:solidFill>
                  <a:srgbClr val="FFFFFF"/>
                </a:solidFill>
                <a:latin typeface="Calibri" pitchFamily="34" charset="0"/>
                <a:ea typeface="Calibri" pitchFamily="34" charset="-122"/>
                <a:cs typeface="Calibri" pitchFamily="34" charset="-120"/>
              </a:rPr>
              <a:t>natalidad</a:t>
            </a:r>
            <a:r>
              <a:rPr lang="en-US" sz="1300" dirty="0">
                <a:solidFill>
                  <a:srgbClr val="FFFFFF"/>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365760" y="2980944"/>
            <a:ext cx="8412480" cy="868680"/>
          </a:xfrm>
          <a:prstGeom prst="roundRect">
            <a:avLst>
              <a:gd name="adj" fmla="val 10526"/>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3" name="Text 11"/>
          <p:cNvSpPr/>
          <p:nvPr/>
        </p:nvSpPr>
        <p:spPr>
          <a:xfrm>
            <a:off x="502920" y="3054096"/>
            <a:ext cx="640080" cy="713232"/>
          </a:xfrm>
          <a:prstGeom prst="rect">
            <a:avLst/>
          </a:prstGeom>
          <a:noFill/>
          <a:ln/>
        </p:spPr>
        <p:txBody>
          <a:bodyPr wrap="square" lIns="0" tIns="0" rIns="0" bIns="0" rtlCol="0" anchor="ctr"/>
          <a:lstStyle/>
          <a:p>
            <a:pPr marL="0" indent="0" algn="ctr">
              <a:buNone/>
            </a:pPr>
            <a:r>
              <a:rPr lang="en-US" sz="2200" b="1" dirty="0">
                <a:solidFill>
                  <a:srgbClr val="D95F3B"/>
                </a:solidFill>
                <a:latin typeface="Calibri" pitchFamily="34" charset="0"/>
                <a:ea typeface="Calibri" pitchFamily="34" charset="-122"/>
                <a:cs typeface="Calibri" pitchFamily="34" charset="-120"/>
              </a:rPr>
              <a:t>03</a:t>
            </a:r>
            <a:endParaRPr lang="en-US" sz="2200" dirty="0"/>
          </a:p>
        </p:txBody>
      </p:sp>
      <p:sp>
        <p:nvSpPr>
          <p:cNvPr id="14" name="Shape 12"/>
          <p:cNvSpPr/>
          <p:nvPr/>
        </p:nvSpPr>
        <p:spPr>
          <a:xfrm>
            <a:off x="1234440" y="3145536"/>
            <a:ext cx="18288" cy="548640"/>
          </a:xfrm>
          <a:prstGeom prst="rect">
            <a:avLst/>
          </a:prstGeom>
          <a:solidFill>
            <a:srgbClr val="D95F3B"/>
          </a:solidFill>
          <a:ln w="12700">
            <a:solidFill>
              <a:srgbClr val="D95F3B"/>
            </a:solidFill>
            <a:prstDash val="solid"/>
          </a:ln>
        </p:spPr>
        <p:txBody>
          <a:bodyPr/>
          <a:lstStyle/>
          <a:p>
            <a:endParaRPr lang="es-AR"/>
          </a:p>
        </p:txBody>
      </p:sp>
      <p:sp>
        <p:nvSpPr>
          <p:cNvPr id="15" name="Text 13"/>
          <p:cNvSpPr/>
          <p:nvPr/>
        </p:nvSpPr>
        <p:spPr>
          <a:xfrm>
            <a:off x="1371600" y="3054096"/>
            <a:ext cx="7223760" cy="713232"/>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El modelo proyecta crecimiento moderado hasta 2050 (54–60 M según escenario), sin pico poblacional visible aún.</a:t>
            </a:r>
            <a:endParaRPr lang="en-US" sz="1300" dirty="0"/>
          </a:p>
        </p:txBody>
      </p:sp>
      <p:sp>
        <p:nvSpPr>
          <p:cNvPr id="16" name="Shape 14"/>
          <p:cNvSpPr/>
          <p:nvPr/>
        </p:nvSpPr>
        <p:spPr>
          <a:xfrm>
            <a:off x="365760" y="3968496"/>
            <a:ext cx="8412480" cy="868680"/>
          </a:xfrm>
          <a:prstGeom prst="roundRect">
            <a:avLst>
              <a:gd name="adj" fmla="val 10526"/>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7" name="Text 15"/>
          <p:cNvSpPr/>
          <p:nvPr/>
        </p:nvSpPr>
        <p:spPr>
          <a:xfrm>
            <a:off x="502920" y="4041648"/>
            <a:ext cx="640080" cy="713232"/>
          </a:xfrm>
          <a:prstGeom prst="rect">
            <a:avLst/>
          </a:prstGeom>
          <a:noFill/>
          <a:ln/>
        </p:spPr>
        <p:txBody>
          <a:bodyPr wrap="square" lIns="0" tIns="0" rIns="0" bIns="0" rtlCol="0" anchor="ctr"/>
          <a:lstStyle/>
          <a:p>
            <a:pPr marL="0" indent="0" algn="ctr">
              <a:buNone/>
            </a:pPr>
            <a:r>
              <a:rPr lang="en-US" sz="2200" b="1" dirty="0">
                <a:solidFill>
                  <a:srgbClr val="7B8EBF"/>
                </a:solidFill>
                <a:latin typeface="Calibri" pitchFamily="34" charset="0"/>
                <a:ea typeface="Calibri" pitchFamily="34" charset="-122"/>
                <a:cs typeface="Calibri" pitchFamily="34" charset="-120"/>
              </a:rPr>
              <a:t>04</a:t>
            </a:r>
            <a:endParaRPr lang="en-US" sz="2200" dirty="0"/>
          </a:p>
        </p:txBody>
      </p:sp>
      <p:sp>
        <p:nvSpPr>
          <p:cNvPr id="18" name="Shape 16"/>
          <p:cNvSpPr/>
          <p:nvPr/>
        </p:nvSpPr>
        <p:spPr>
          <a:xfrm>
            <a:off x="1234440" y="4133088"/>
            <a:ext cx="18288" cy="548640"/>
          </a:xfrm>
          <a:prstGeom prst="rect">
            <a:avLst/>
          </a:prstGeom>
          <a:solidFill>
            <a:srgbClr val="7B8EBF"/>
          </a:solidFill>
          <a:ln w="12700">
            <a:solidFill>
              <a:srgbClr val="7B8EBF"/>
            </a:solidFill>
            <a:prstDash val="solid"/>
          </a:ln>
        </p:spPr>
        <p:txBody>
          <a:bodyPr/>
          <a:lstStyle/>
          <a:p>
            <a:endParaRPr lang="es-AR"/>
          </a:p>
        </p:txBody>
      </p:sp>
      <p:sp>
        <p:nvSpPr>
          <p:cNvPr id="19" name="Text 17"/>
          <p:cNvSpPr/>
          <p:nvPr/>
        </p:nvSpPr>
        <p:spPr>
          <a:xfrm>
            <a:off x="1371600" y="4041648"/>
            <a:ext cx="7223760" cy="713232"/>
          </a:xfrm>
          <a:prstGeom prst="rect">
            <a:avLst/>
          </a:prstGeom>
          <a:noFill/>
          <a:ln/>
        </p:spPr>
        <p:txBody>
          <a:bodyPr wrap="square" lIns="0" tIns="0" rIns="0" bIns="0" rtlCol="0" anchor="ctr"/>
          <a:lstStyle/>
          <a:p>
            <a:pPr marL="0" indent="0" algn="l">
              <a:buNone/>
            </a:pPr>
            <a:r>
              <a:rPr lang="en-US" sz="1300" dirty="0" err="1">
                <a:solidFill>
                  <a:srgbClr val="FFFFFF"/>
                </a:solidFill>
                <a:latin typeface="Calibri" pitchFamily="34" charset="0"/>
                <a:ea typeface="Calibri" pitchFamily="34" charset="-122"/>
                <a:cs typeface="Calibri" pitchFamily="34" charset="-120"/>
              </a:rPr>
              <a:t>Basándonos</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en</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el</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análisis</a:t>
            </a:r>
            <a:r>
              <a:rPr lang="en-US" sz="1300" dirty="0">
                <a:solidFill>
                  <a:srgbClr val="FFFFFF"/>
                </a:solidFill>
                <a:latin typeface="Calibri" pitchFamily="34" charset="0"/>
                <a:ea typeface="Calibri" pitchFamily="34" charset="-122"/>
                <a:cs typeface="Calibri" pitchFamily="34" charset="-120"/>
              </a:rPr>
              <a:t> histórico, la pregunta ya no es si Argentina llega al pico poblacional, sino cuándo. La TGF es la variable </a:t>
            </a:r>
            <a:r>
              <a:rPr lang="en-US" sz="1300" dirty="0" err="1">
                <a:solidFill>
                  <a:srgbClr val="FFFFFF"/>
                </a:solidFill>
                <a:latin typeface="Calibri" pitchFamily="34" charset="0"/>
                <a:ea typeface="Calibri" pitchFamily="34" charset="-122"/>
                <a:cs typeface="Calibri" pitchFamily="34" charset="-120"/>
              </a:rPr>
              <a:t>decisiva</a:t>
            </a:r>
            <a:r>
              <a:rPr lang="en-US" sz="1300" dirty="0">
                <a:solidFill>
                  <a:srgbClr val="FFFFFF"/>
                </a:solidFill>
                <a:latin typeface="Calibri" pitchFamily="34" charset="0"/>
                <a:ea typeface="Calibri" pitchFamily="34" charset="-122"/>
                <a:cs typeface="Calibri" pitchFamily="34" charset="-120"/>
              </a:rPr>
              <a:t> y no </a:t>
            </a:r>
            <a:r>
              <a:rPr lang="en-US" sz="1300" dirty="0" err="1">
                <a:solidFill>
                  <a:srgbClr val="FFFFFF"/>
                </a:solidFill>
                <a:latin typeface="Calibri" pitchFamily="34" charset="0"/>
                <a:ea typeface="Calibri" pitchFamily="34" charset="-122"/>
                <a:cs typeface="Calibri" pitchFamily="34" charset="-120"/>
              </a:rPr>
              <a:t>parece</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que</a:t>
            </a:r>
            <a:r>
              <a:rPr lang="en-US" sz="1300" dirty="0">
                <a:solidFill>
                  <a:srgbClr val="FFFFFF"/>
                </a:solidFill>
                <a:latin typeface="Calibri" pitchFamily="34" charset="0"/>
                <a:ea typeface="Calibri" pitchFamily="34" charset="-122"/>
                <a:cs typeface="Calibri" pitchFamily="34" charset="-120"/>
              </a:rPr>
              <a:t> se </a:t>
            </a:r>
            <a:r>
              <a:rPr lang="en-US" sz="1300" dirty="0" err="1">
                <a:solidFill>
                  <a:srgbClr val="FFFFFF"/>
                </a:solidFill>
                <a:latin typeface="Calibri" pitchFamily="34" charset="0"/>
                <a:ea typeface="Calibri" pitchFamily="34" charset="-122"/>
                <a:cs typeface="Calibri" pitchFamily="34" charset="-120"/>
              </a:rPr>
              <a:t>vaya</a:t>
            </a:r>
            <a:r>
              <a:rPr lang="en-US" sz="1300" dirty="0">
                <a:solidFill>
                  <a:srgbClr val="FFFFFF"/>
                </a:solidFill>
                <a:latin typeface="Calibri" pitchFamily="34" charset="0"/>
                <a:ea typeface="Calibri" pitchFamily="34" charset="-122"/>
                <a:cs typeface="Calibri" pitchFamily="34" charset="-120"/>
              </a:rPr>
              <a:t> a </a:t>
            </a:r>
            <a:r>
              <a:rPr lang="en-US" sz="1300" dirty="0" err="1">
                <a:solidFill>
                  <a:srgbClr val="FFFFFF"/>
                </a:solidFill>
                <a:latin typeface="Calibri" pitchFamily="34" charset="0"/>
                <a:ea typeface="Calibri" pitchFamily="34" charset="-122"/>
                <a:cs typeface="Calibri" pitchFamily="34" charset="-120"/>
              </a:rPr>
              <a:t>recuperar</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dentro</a:t>
            </a:r>
            <a:r>
              <a:rPr lang="en-US" sz="1300" dirty="0">
                <a:solidFill>
                  <a:srgbClr val="FFFFFF"/>
                </a:solidFill>
                <a:latin typeface="Calibri" pitchFamily="34" charset="0"/>
                <a:ea typeface="Calibri" pitchFamily="34" charset="-122"/>
                <a:cs typeface="Calibri" pitchFamily="34" charset="-120"/>
              </a:rPr>
              <a:t> de poco.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TotalTime>
  <Words>1465</Words>
  <Application>Microsoft Office PowerPoint</Application>
  <PresentationFormat>Presentación en pantalla (16:9)</PresentationFormat>
  <Paragraphs>176</Paragraphs>
  <Slides>14</Slides>
  <Notes>14</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14</vt:i4>
      </vt:variant>
    </vt:vector>
  </HeadingPairs>
  <TitlesOfParts>
    <vt:vector size="20" baseType="lpstr">
      <vt:lpstr>Arial</vt:lpstr>
      <vt:lpstr>Calibri</vt:lpstr>
      <vt:lpstr>Courier New</vt:lpstr>
      <vt:lpstr>Lato</vt:lpstr>
      <vt:lpstr>Poppins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Dinámica Poblacional Argentina al 2050</dc:title>
  <dc:subject>PptxGenJS Presentation</dc:subject>
  <dc:creator>Gangui Matías</dc:creator>
  <cp:lastModifiedBy>Matias Gangui</cp:lastModifiedBy>
  <cp:revision>8</cp:revision>
  <dcterms:created xsi:type="dcterms:W3CDTF">2026-06-16T20:25:19Z</dcterms:created>
  <dcterms:modified xsi:type="dcterms:W3CDTF">2026-06-16T23:00:59Z</dcterms:modified>
</cp:coreProperties>
</file>